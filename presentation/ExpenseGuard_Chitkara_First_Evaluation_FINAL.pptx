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8" r:id="rId2"/>
    <p:sldId id="267" r:id="rId3"/>
    <p:sldId id="271" r:id="rId4"/>
    <p:sldId id="273" r:id="rId5"/>
    <p:sldId id="280" r:id="rId6"/>
    <p:sldId id="272" r:id="rId7"/>
    <p:sldId id="281" r:id="rId8"/>
    <p:sldId id="282" r:id="rId9"/>
    <p:sldId id="283" r:id="rId10"/>
    <p:sldId id="274" r:id="rId11"/>
    <p:sldId id="278" r:id="rId12"/>
    <p:sldId id="279" r:id="rId13"/>
    <p:sldId id="265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12" autoAdjust="0"/>
    <p:restoredTop sz="94660"/>
  </p:normalViewPr>
  <p:slideViewPr>
    <p:cSldViewPr showGuides="1">
      <p:cViewPr>
        <p:scale>
          <a:sx n="66" d="100"/>
          <a:sy n="66" d="100"/>
        </p:scale>
        <p:origin x="1949" y="31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5486400" cy="914400"/>
          </a:xfrm>
        </p:spPr>
        <p:txBody>
          <a:bodyPr/>
          <a:lstStyle>
            <a:lvl1pPr>
              <a:defRPr sz="3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1371600"/>
            <a:ext cx="8153400" cy="4724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5BB0C6-8FC1-47C0-B737-D54E21B5B868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8887D6-2A35-42AC-99C1-5E14D32EE4C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advTm="4000">
    <p:cut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" descr="LOGO.gif"/>
          <p:cNvPicPr>
            <a:picLocks noChangeAspect="1"/>
          </p:cNvPicPr>
          <p:nvPr/>
        </p:nvPicPr>
        <p:blipFill>
          <a:blip r:embed="rId2" cstate="print"/>
          <a:srcRect b="10713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7"/>
          <p:cNvGrpSpPr/>
          <p:nvPr/>
        </p:nvGrpSpPr>
        <p:grpSpPr bwMode="auto"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6" name="Rectangle 11"/>
            <p:cNvSpPr>
              <a:spLocks noChangeArrowheads="1"/>
            </p:cNvSpPr>
            <p:nvPr/>
          </p:nvSpPr>
          <p:spPr bwMode="auto"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en-US">
                <a:latin typeface="Calibri" panose="020F0502020204030204" pitchFamily="34" charset="0"/>
              </a:endParaRPr>
            </a:p>
          </p:txBody>
        </p:sp>
        <p:pic>
          <p:nvPicPr>
            <p:cNvPr id="7" name="Picture 9" descr="LOGO.gif"/>
            <p:cNvPicPr>
              <a:picLocks noChangeAspect="1"/>
            </p:cNvPicPr>
            <p:nvPr/>
          </p:nvPicPr>
          <p:blipFill>
            <a:blip r:embed="rId2" cstate="print"/>
            <a:srcRect b="10713"/>
            <a:stretch>
              <a:fillRect/>
            </a:stretch>
          </p:blipFill>
          <p:spPr bwMode="auto">
            <a:xfrm>
              <a:off x="6502400" y="4152900"/>
              <a:ext cx="2057400" cy="635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" name="Rectangle 7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pic>
        <p:nvPicPr>
          <p:cNvPr id="9" name="Picture 15" descr="logo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53200" y="228600"/>
            <a:ext cx="1920875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2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22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2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22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5BB0C6-8FC1-47C0-B737-D54E21B5B868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8887D6-2A35-42AC-99C1-5E14D32EE4C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advTm="4000">
    <p:cut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BB0C6-8FC1-47C0-B737-D54E21B5B868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887D6-2A35-42AC-99C1-5E14D32EE4C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advTm="4000">
    <p:cut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0" y="0"/>
            <a:ext cx="6477000" cy="838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371600"/>
            <a:ext cx="8229600" cy="4525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12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1D5BB0C6-8FC1-47C0-B737-D54E21B5B868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ctr">
              <a:defRPr sz="1200" b="1">
                <a:solidFill>
                  <a:srgbClr val="0070C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0F8887D6-2A35-42AC-99C1-5E14D32EE4CF}" type="slidenum">
              <a:rPr lang="en-US" smtClean="0"/>
              <a:t>‹#›</a:t>
            </a:fld>
            <a:endParaRPr lang="en-US"/>
          </a:p>
        </p:txBody>
      </p:sp>
      <p:sp>
        <p:nvSpPr>
          <p:cNvPr id="1031" name="Rectangle 11"/>
          <p:cNvSpPr>
            <a:spLocks noChangeArrowheads="1"/>
          </p:cNvSpPr>
          <p:nvPr/>
        </p:nvSpPr>
        <p:spPr bwMode="auto">
          <a:xfrm>
            <a:off x="0" y="0"/>
            <a:ext cx="9144000" cy="838200"/>
          </a:xfrm>
          <a:prstGeom prst="rect">
            <a:avLst/>
          </a:prstGeom>
          <a:solidFill>
            <a:srgbClr val="FF3300"/>
          </a:solidFill>
          <a:ln w="9525">
            <a:noFill/>
            <a:miter lim="800000"/>
          </a:ln>
        </p:spPr>
        <p:txBody>
          <a:bodyPr wrap="none" anchor="ctr"/>
          <a:lstStyle/>
          <a:p>
            <a:endParaRPr lang="en-US">
              <a:latin typeface="Calibri" panose="020F0502020204030204" pitchFamily="34" charset="0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 flipV="1">
            <a:off x="0" y="6705600"/>
            <a:ext cx="9144000" cy="198116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</a:ln>
          <a:effectLst/>
          <a:scene3d>
            <a:camera prst="orthographicFront"/>
            <a:lightRig rig="threePt" dir="t"/>
          </a:scene3d>
          <a:sp3d>
            <a:bevelB/>
          </a:sp3d>
        </p:spPr>
        <p:txBody>
          <a:bodyPr wrap="none" anchor="ctr"/>
          <a:lstStyle/>
          <a:p>
            <a:pPr>
              <a:defRPr/>
            </a:pPr>
            <a:endParaRPr lang="en-US">
              <a:latin typeface="Calibri" panose="020F0502020204030204" pitchFamily="34" charset="0"/>
              <a:ea typeface="MS PGothic" panose="020B0600070205080204" charset="-128"/>
            </a:endParaRPr>
          </a:p>
        </p:txBody>
      </p:sp>
      <p:pic>
        <p:nvPicPr>
          <p:cNvPr id="1035" name="Picture 10" descr="LOGO.gif"/>
          <p:cNvPicPr>
            <a:picLocks noChangeAspect="1"/>
          </p:cNvPicPr>
          <p:nvPr/>
        </p:nvPicPr>
        <p:blipFill>
          <a:blip r:embed="rId5" cstate="print"/>
          <a:srcRect b="10713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6" name="Picture 10" descr="LOGO.gif"/>
          <p:cNvPicPr>
            <a:picLocks noChangeAspect="1"/>
          </p:cNvPicPr>
          <p:nvPr/>
        </p:nvPicPr>
        <p:blipFill>
          <a:blip r:embed="rId5" cstate="print"/>
          <a:srcRect b="10713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7"/>
          <p:cNvGrpSpPr/>
          <p:nvPr/>
        </p:nvGrpSpPr>
        <p:grpSpPr bwMode="auto"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1039" name="Rectangle 11"/>
            <p:cNvSpPr>
              <a:spLocks noChangeArrowheads="1"/>
            </p:cNvSpPr>
            <p:nvPr/>
          </p:nvSpPr>
          <p:spPr bwMode="auto"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en-US">
                <a:latin typeface="Calibri" panose="020F0502020204030204" pitchFamily="34" charset="0"/>
              </a:endParaRPr>
            </a:p>
          </p:txBody>
        </p:sp>
        <p:pic>
          <p:nvPicPr>
            <p:cNvPr id="1040" name="Picture 9" descr="LOGO.gif"/>
            <p:cNvPicPr>
              <a:picLocks noChangeAspect="1"/>
            </p:cNvPicPr>
            <p:nvPr/>
          </p:nvPicPr>
          <p:blipFill>
            <a:blip r:embed="rId5" cstate="print"/>
            <a:srcRect b="10713"/>
            <a:stretch>
              <a:fillRect/>
            </a:stretch>
          </p:blipFill>
          <p:spPr bwMode="auto">
            <a:xfrm>
              <a:off x="6502400" y="4152900"/>
              <a:ext cx="2057400" cy="635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9" name="Rectangle 18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pic>
        <p:nvPicPr>
          <p:cNvPr id="1038" name="Picture 15" descr="logo.jpg"/>
          <p:cNvPicPr>
            <a:picLocks noChangeAspect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553200" y="228600"/>
            <a:ext cx="1920875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 advTm="4000">
    <p:cut/>
  </p:transition>
  <p:txStyles>
    <p:titleStyle>
      <a:lvl1pPr algn="ctr" rtl="0" eaLnBrk="1" fontAlgn="base" hangingPunct="1">
        <a:spcBef>
          <a:spcPct val="0"/>
        </a:spcBef>
        <a:spcAft>
          <a:spcPct val="0"/>
        </a:spcAft>
        <a:defRPr sz="3000" kern="1200">
          <a:solidFill>
            <a:schemeClr val="tx1"/>
          </a:solidFill>
          <a:latin typeface="+mj-lt"/>
          <a:ea typeface="MS PGothic" panose="020B0600070205080204" charset="-128"/>
          <a:cs typeface="MS PGothic" panose="020B0600070205080204" charset="-128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anose="020F0502020204030204" pitchFamily="34" charset="0"/>
          <a:ea typeface="MS PGothic" panose="020B0600070205080204" charset="-128"/>
          <a:cs typeface="MS PGothic" panose="020B0600070205080204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anose="020F0502020204030204" pitchFamily="34" charset="0"/>
          <a:ea typeface="MS PGothic" panose="020B0600070205080204" charset="-128"/>
          <a:cs typeface="MS PGothic" panose="020B0600070205080204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anose="020F0502020204030204" pitchFamily="34" charset="0"/>
          <a:ea typeface="MS PGothic" panose="020B0600070205080204" charset="-128"/>
          <a:cs typeface="MS PGothic" panose="020B0600070205080204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anose="020F0502020204030204" pitchFamily="34" charset="0"/>
          <a:ea typeface="MS PGothic" panose="020B0600070205080204" charset="-128"/>
          <a:cs typeface="MS PGothic" panose="020B0600070205080204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anose="020F0502020204030204" pitchFamily="34" charset="0"/>
          <a:ea typeface="MS PGothic" panose="020B0600070205080204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anose="020F0502020204030204" pitchFamily="34" charset="0"/>
          <a:ea typeface="MS PGothic" panose="020B0600070205080204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anose="020F0502020204030204" pitchFamily="34" charset="0"/>
          <a:ea typeface="MS PGothic" panose="020B0600070205080204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anose="020F0502020204030204" pitchFamily="34" charset="0"/>
          <a:ea typeface="MS PGothic" panose="020B0600070205080204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q=https://github.com/Bhavyakakkar24/ExpenseGuard-recurring-expense-anomaly-detector" TargetMode="External"/><Relationship Id="rId2" Type="http://schemas.openxmlformats.org/officeDocument/2006/relationships/hyperlink" Target="https://expense-guard-recurring-expense-ano.vercel.app/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59" y="1002944"/>
            <a:ext cx="749807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3100" b="1">
                <a:solidFill>
                  <a:srgbClr val="1F467D"/>
                </a:solidFill>
                <a:latin typeface="Times New Roman"/>
              </a:defRPr>
            </a:pPr>
            <a:r>
              <a:rPr lang="en-IN" u="sng" dirty="0"/>
              <a:t>BACK END ENGINEERING(24CAI0303)</a:t>
            </a:r>
            <a:r>
              <a:rPr lang="en-IN" dirty="0"/>
              <a:t> 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2018037"/>
            <a:ext cx="79552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400" b="1">
                <a:solidFill>
                  <a:srgbClr val="C00000"/>
                </a:solidFill>
                <a:latin typeface="Times New Roman"/>
              </a:defRPr>
            </a:pPr>
            <a:r>
              <a:rPr u="sng" dirty="0"/>
              <a:t>Project Title : </a:t>
            </a:r>
            <a:r>
              <a:rPr u="sng" dirty="0" err="1"/>
              <a:t>ExpenseGuard</a:t>
            </a:r>
            <a:r>
              <a:rPr u="sng" dirty="0"/>
              <a:t> — Recurring Expense Anomaly Detector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1691640" y="3072384"/>
            <a:ext cx="6080760" cy="365760"/>
          </a:xfrm>
          <a:prstGeom prst="rect">
            <a:avLst/>
          </a:prstGeom>
          <a:solidFill>
            <a:srgbClr val="C45050"/>
          </a:solidFill>
          <a:ln>
            <a:solidFill>
              <a:srgbClr val="C4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737360" y="3136391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STUDENT NAME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3136391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ROLL NO.</a:t>
            </a:r>
          </a:p>
        </p:txBody>
      </p:sp>
      <p:sp>
        <p:nvSpPr>
          <p:cNvPr id="7" name="Rectangle 6"/>
          <p:cNvSpPr/>
          <p:nvPr/>
        </p:nvSpPr>
        <p:spPr>
          <a:xfrm>
            <a:off x="1691640" y="3438144"/>
            <a:ext cx="3063240" cy="365760"/>
          </a:xfrm>
          <a:prstGeom prst="rect">
            <a:avLst/>
          </a:prstGeom>
          <a:solidFill>
            <a:srgbClr val="E7CFCF"/>
          </a:solidFill>
          <a:ln>
            <a:solidFill>
              <a:srgbClr val="E7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754880" y="3438144"/>
            <a:ext cx="3017520" cy="365760"/>
          </a:xfrm>
          <a:prstGeom prst="rect">
            <a:avLst/>
          </a:prstGeom>
          <a:solidFill>
            <a:srgbClr val="E7CFCF"/>
          </a:solidFill>
          <a:ln>
            <a:solidFill>
              <a:srgbClr val="E7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783080" y="3511296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000000"/>
                </a:solidFill>
                <a:latin typeface="Times New Roman"/>
              </a:defRPr>
            </a:pPr>
            <a:r>
              <a:t>Bhavya Kakkar (Leader)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73752" y="3511296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000000"/>
                </a:solidFill>
                <a:latin typeface="Times New Roman"/>
              </a:defRPr>
            </a:pPr>
            <a:r>
              <a:t>2410993144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91640" y="3803904"/>
            <a:ext cx="3063240" cy="365760"/>
          </a:xfrm>
          <a:prstGeom prst="rect">
            <a:avLst/>
          </a:prstGeom>
          <a:solidFill>
            <a:srgbClr val="F4E8E8"/>
          </a:solidFill>
          <a:ln>
            <a:solidFill>
              <a:srgbClr val="F4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754880" y="3803904"/>
            <a:ext cx="3017520" cy="365760"/>
          </a:xfrm>
          <a:prstGeom prst="rect">
            <a:avLst/>
          </a:prstGeom>
          <a:solidFill>
            <a:srgbClr val="F4E8E8"/>
          </a:solidFill>
          <a:ln>
            <a:solidFill>
              <a:srgbClr val="F4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783080" y="3877056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000000"/>
                </a:solidFill>
                <a:latin typeface="Times New Roman"/>
              </a:defRPr>
            </a:pPr>
            <a:r>
              <a:t>Muskan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73752" y="3877056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000000"/>
                </a:solidFill>
                <a:latin typeface="Times New Roman"/>
              </a:defRPr>
            </a:pPr>
            <a:r>
              <a:t>2410993164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91640" y="4169663"/>
            <a:ext cx="3063240" cy="365760"/>
          </a:xfrm>
          <a:prstGeom prst="rect">
            <a:avLst/>
          </a:prstGeom>
          <a:solidFill>
            <a:srgbClr val="E7CFCF"/>
          </a:solidFill>
          <a:ln>
            <a:solidFill>
              <a:srgbClr val="E7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754880" y="4169663"/>
            <a:ext cx="3017520" cy="365760"/>
          </a:xfrm>
          <a:prstGeom prst="rect">
            <a:avLst/>
          </a:prstGeom>
          <a:solidFill>
            <a:srgbClr val="E7CFCF"/>
          </a:solidFill>
          <a:ln>
            <a:solidFill>
              <a:srgbClr val="E7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783080" y="4242816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000000"/>
                </a:solidFill>
                <a:latin typeface="Times New Roman"/>
              </a:defRPr>
            </a:pPr>
            <a:r>
              <a:t>Denish Kashnia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73752" y="4242816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000000"/>
                </a:solidFill>
                <a:latin typeface="Times New Roman"/>
              </a:defRPr>
            </a:pPr>
            <a:r>
              <a:t>2410993184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55776" y="5257800"/>
            <a:ext cx="34792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800" b="1">
                <a:solidFill>
                  <a:srgbClr val="1F467D"/>
                </a:solidFill>
                <a:latin typeface="Times New Roman"/>
              </a:defRPr>
            </a:pPr>
            <a:r>
              <a:rPr dirty="0"/>
              <a:t>Class Group: </a:t>
            </a:r>
            <a:r>
              <a:rPr lang="en-IN" dirty="0"/>
              <a:t>5-G-10</a:t>
            </a:r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1547664" y="5806440"/>
            <a:ext cx="553893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500" b="1">
                <a:solidFill>
                  <a:srgbClr val="C00000"/>
                </a:solidFill>
                <a:latin typeface="Times New Roman"/>
              </a:defRPr>
            </a:pPr>
            <a:r>
              <a:rPr dirty="0"/>
              <a:t>Project Guide Name (</a:t>
            </a:r>
            <a:r>
              <a:rPr lang="en-IN" dirty="0"/>
              <a:t>Ms. Ekta Verma</a:t>
            </a:r>
            <a:r>
              <a:rPr dirty="0"/>
              <a:t>):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1800" y="6099048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400" b="1">
                <a:solidFill>
                  <a:srgbClr val="1F467D"/>
                </a:solidFill>
                <a:latin typeface="Times New Roman"/>
              </a:defRPr>
            </a:pPr>
            <a:r>
              <a:t>____________________________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428232"/>
            <a:ext cx="74980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250" b="1">
                <a:solidFill>
                  <a:srgbClr val="C00000"/>
                </a:solidFill>
                <a:latin typeface="Times New Roman"/>
              </a:defRPr>
            </a:pPr>
            <a:r>
              <a:t>Chitkara University Institute of Engineering and Technology, Punjab</a:t>
            </a:r>
          </a:p>
        </p:txBody>
      </p:sp>
    </p:spTree>
  </p:cSld>
  <p:clrMapOvr>
    <a:masterClrMapping/>
  </p:clrMapOvr>
  <p:transition advTm="4000"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53949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500" b="1">
                <a:solidFill>
                  <a:srgbClr val="1F467D"/>
                </a:solidFill>
                <a:latin typeface="Times New Roman"/>
              </a:defRPr>
            </a:pPr>
            <a:r>
              <a:rPr sz="2800" dirty="0"/>
              <a:t>Table of Contents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395536" y="1097280"/>
                <a:ext cx="8064896" cy="53707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IN" b="1" dirty="0"/>
                  <a:t>Introduction</a:t>
                </a:r>
                <a:r>
                  <a:rPr lang="en-IN" dirty="0"/>
                  <a:t> — Project background, tech stack, and academic scope.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IN" b="1" dirty="0"/>
                  <a:t>Problem Statement</a:t>
                </a:r>
                <a:r>
                  <a:rPr lang="en-IN" dirty="0"/>
                  <a:t> — Challenges in manual expense tracking &amp; undetected anomalies.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IN" b="1" dirty="0"/>
                  <a:t>Proposed Solution</a:t>
                </a:r>
                <a:r>
                  <a:rPr lang="en-IN" dirty="0"/>
                  <a:t> — Automated categorization, statistical detection &amp; local privacy.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IN" b="1" dirty="0"/>
                  <a:t>Technical Details</a:t>
                </a:r>
                <a:r>
                  <a:rPr lang="en-IN" dirty="0"/>
                  <a:t> — Client-side HTML/CSS layout and modular JavaScript architecture.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IN" b="1" dirty="0"/>
                  <a:t>JavaScript Concepts Used</a:t>
                </a:r>
                <a:r>
                  <a:rPr lang="en-IN" dirty="0"/>
                  <a:t> — Syllabus mapping to implementation.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IN" b="1" dirty="0"/>
                  <a:t>Data Management &amp; Storage</a:t>
                </a:r>
                <a:r>
                  <a:rPr lang="en-IN" dirty="0"/>
                  <a:t> — Client persistence via </a:t>
                </a:r>
                <a:r>
                  <a:rPr lang="en-IN" dirty="0" err="1"/>
                  <a:t>localStorage</a:t>
                </a:r>
                <a:r>
                  <a:rPr lang="en-IN" dirty="0"/>
                  <a:t>, </a:t>
                </a:r>
                <a:r>
                  <a:rPr lang="en-IN" dirty="0" err="1"/>
                  <a:t>sessionStorage</a:t>
                </a:r>
                <a:r>
                  <a:rPr lang="en-IN" dirty="0"/>
                  <a:t>, and JSON.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IN" b="1" dirty="0"/>
                  <a:t>Statistical Anomaly Engine</a:t>
                </a:r>
                <a:r>
                  <a:rPr lang="en-IN" dirty="0"/>
                  <a:t> — Z-score methodology (</a:t>
                </a:r>
                <a14:m>
                  <m:oMath xmlns:m="http://schemas.openxmlformats.org/officeDocument/2006/math">
                    <m:r>
                      <a:rPr lang="en-IN" i="1"/>
                      <m:t>𝜇</m:t>
                    </m:r>
                  </m:oMath>
                </a14:m>
                <a:r>
                  <a:rPr lang="en-IN" dirty="0"/>
                  <a:t>, </a:t>
                </a:r>
                <a14:m>
                  <m:oMath xmlns:m="http://schemas.openxmlformats.org/officeDocument/2006/math">
                    <m:r>
                      <a:rPr lang="en-IN" i="1"/>
                      <m:t>𝜎</m:t>
                    </m:r>
                  </m:oMath>
                </a14:m>
                <a:r>
                  <a:rPr lang="en-IN" dirty="0"/>
                  <a:t>, </a:t>
                </a:r>
                <a14:m>
                  <m:oMath xmlns:m="http://schemas.openxmlformats.org/officeDocument/2006/math">
                    <m:r>
                      <a:rPr lang="en-IN" i="1"/>
                      <m:t>𝑍</m:t>
                    </m:r>
                  </m:oMath>
                </a14:m>
                <a:r>
                  <a:rPr lang="en-IN" dirty="0"/>
                  <a:t>), baselines &amp; fallback logic.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IN" b="1" dirty="0"/>
                  <a:t>Key Features &amp; Modules</a:t>
                </a:r>
                <a:r>
                  <a:rPr lang="en-IN" dirty="0"/>
                  <a:t> — Dashboard, Transactions, Anomaly </a:t>
                </a:r>
                <a:r>
                  <a:rPr lang="en-IN" dirty="0" err="1"/>
                  <a:t>Center</a:t>
                </a:r>
                <a:r>
                  <a:rPr lang="en-IN" dirty="0"/>
                  <a:t>, Budgets, and Reports.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IN" b="1" dirty="0"/>
                  <a:t>Project Highlights</a:t>
                </a:r>
                <a:r>
                  <a:rPr lang="en-IN" dirty="0"/>
                  <a:t> — Zero-dependency build, real-time DOM updates &amp; Evaluation Lab.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IN" b="1" dirty="0"/>
                  <a:t>References &amp; Project Links</a:t>
                </a:r>
                <a:r>
                  <a:rPr lang="en-IN" dirty="0"/>
                  <a:t> — Verification links, sample data &amp; live demo.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IN" b="1" dirty="0"/>
                  <a:t>Conclusion</a:t>
                </a:r>
                <a:r>
                  <a:rPr lang="en-IN" dirty="0"/>
                  <a:t> — Project summary and practical academic outcomes.</a:t>
                </a:r>
              </a:p>
              <a:p>
                <a:pPr algn="l">
                  <a:spcAft>
                    <a:spcPts val="200"/>
                  </a:spcAft>
                  <a:defRPr sz="1900" b="0">
                    <a:solidFill>
                      <a:srgbClr val="000000"/>
                    </a:solidFill>
                    <a:latin typeface="Times New Roman"/>
                  </a:defRPr>
                </a:pPr>
                <a:endParaRPr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097280"/>
                <a:ext cx="8064896" cy="5370701"/>
              </a:xfrm>
              <a:prstGeom prst="rect">
                <a:avLst/>
              </a:prstGeom>
              <a:blipFill>
                <a:blip r:embed="rId2"/>
                <a:stretch>
                  <a:fillRect l="-529" t="-568" r="-5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advTm="4000"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7827" y="188640"/>
            <a:ext cx="55743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500" b="1">
                <a:solidFill>
                  <a:srgbClr val="1F467D"/>
                </a:solidFill>
                <a:latin typeface="Times New Roman"/>
              </a:defRPr>
            </a:pPr>
            <a:r>
              <a:rPr sz="2800" dirty="0"/>
              <a:t>Introduction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D01F64-A811-4D7B-D700-52B7AE35D3EF}"/>
              </a:ext>
            </a:extLst>
          </p:cNvPr>
          <p:cNvSpPr txBox="1"/>
          <p:nvPr/>
        </p:nvSpPr>
        <p:spPr>
          <a:xfrm>
            <a:off x="457200" y="1916832"/>
            <a:ext cx="7499176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Project Name:</a:t>
            </a:r>
            <a:r>
              <a:rPr lang="en-IN" sz="2000" dirty="0"/>
              <a:t> </a:t>
            </a:r>
            <a:r>
              <a:rPr lang="en-IN" sz="2000" dirty="0" err="1"/>
              <a:t>ExpenseGuard</a:t>
            </a: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Core Purpose:</a:t>
            </a:r>
            <a:r>
              <a:rPr lang="en-IN" sz="2000" dirty="0"/>
              <a:t> Automatically detect unusual or out-of-pattern recurring spending using dynamic statistical Z-score analysis without third-party frameworks or cloud dependencies.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Technology Stack:</a:t>
            </a:r>
            <a:r>
              <a:rPr lang="en-IN" sz="2000" dirty="0"/>
              <a:t> Pure HTML5, Vanilla CSS3 (Custom Dark Navy Theme System), and Modern ES6+ JavaScript Standard Library.</a:t>
            </a:r>
          </a:p>
          <a:p>
            <a:pPr lvl="0"/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effectLst/>
              </a:rPr>
              <a:t>Academic Scope:</a:t>
            </a:r>
            <a:r>
              <a:rPr lang="en-IN" sz="2000" dirty="0">
                <a:effectLst/>
              </a:rPr>
              <a:t> Practical demonstration of core Web</a:t>
            </a:r>
          </a:p>
          <a:p>
            <a:pPr lvl="0"/>
            <a:r>
              <a:rPr lang="en-IN" sz="2000" dirty="0"/>
              <a:t>     </a:t>
            </a:r>
            <a:r>
              <a:rPr lang="en-IN" sz="2000" dirty="0">
                <a:effectLst/>
              </a:rPr>
              <a:t> Development concepts—DOM Manipulation, Event Handling,           Higher-Order Array Methods, Form Validation, </a:t>
            </a:r>
            <a:r>
              <a:rPr lang="en-IN" sz="2000" dirty="0" err="1">
                <a:effectLst/>
              </a:rPr>
              <a:t>LocalStorage</a:t>
            </a:r>
            <a:r>
              <a:rPr lang="en-IN" sz="2000" dirty="0">
                <a:effectLst/>
              </a:rPr>
              <a:t> Management, and Modular JavaScript Architecture.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F78C52-E1EF-1923-0B25-05812A2539FB}"/>
              </a:ext>
            </a:extLst>
          </p:cNvPr>
          <p:cNvSpPr txBox="1"/>
          <p:nvPr/>
        </p:nvSpPr>
        <p:spPr>
          <a:xfrm>
            <a:off x="277827" y="1196752"/>
            <a:ext cx="80984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400" b="1" u="sng" dirty="0">
                <a:solidFill>
                  <a:srgbClr val="C00000"/>
                </a:solidFill>
              </a:rPr>
              <a:t>Client-Side Financial Intelligence &amp; Anomaly Detection System</a:t>
            </a:r>
          </a:p>
        </p:txBody>
      </p:sp>
    </p:spTree>
  </p:cSld>
  <p:clrMapOvr>
    <a:masterClrMapping/>
  </p:clrMapOvr>
  <p:transition advTm="4000"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53949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500" b="1">
                <a:solidFill>
                  <a:srgbClr val="1F467D"/>
                </a:solidFill>
                <a:latin typeface="Times New Roman"/>
              </a:defRPr>
            </a:pPr>
            <a:r>
              <a:rPr sz="2800" dirty="0"/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55028" y="1196752"/>
            <a:ext cx="62179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C00000"/>
                </a:solidFill>
                <a:latin typeface="Times New Roman"/>
              </a:defRPr>
            </a:pPr>
            <a:r>
              <a:rPr lang="en-IN" sz="2400" b="1" u="sng" dirty="0">
                <a:solidFill>
                  <a:srgbClr val="C00000"/>
                </a:solidFill>
                <a:latin typeface="Times New Roman"/>
              </a:rPr>
              <a:t>Challenges in Recurring Expense Tracking &amp; Financial Visibility</a:t>
            </a:r>
            <a:endParaRPr sz="2400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EE4B444-7372-8A0B-316E-039B2B51EEF1}"/>
                  </a:ext>
                </a:extLst>
              </p:cNvPr>
              <p:cNvSpPr txBox="1"/>
              <p:nvPr/>
            </p:nvSpPr>
            <p:spPr>
              <a:xfrm>
                <a:off x="251520" y="2204864"/>
                <a:ext cx="8424937" cy="40626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IN" sz="2000" b="1" dirty="0"/>
                  <a:t>Tedious Manual Tracking:</a:t>
                </a:r>
                <a:r>
                  <a:rPr lang="en-IN" sz="2000" dirty="0"/>
                  <a:t> Spreadsheet logs and paper records are slow, error-prone, and lack immediate visual feedback.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IN" sz="2000" b="1" dirty="0"/>
                  <a:t>Undetected Recurring Anomalies:</a:t>
                </a:r>
                <a:r>
                  <a:rPr lang="en-IN" sz="2000" dirty="0"/>
                  <a:t> Subtle price hikes in subscription renewals, utility surge charges, or impulse buys easily go unnoticed in raw list views.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IN" sz="2000" b="1" dirty="0"/>
                  <a:t>Absence of Category Baselines:</a:t>
                </a:r>
                <a:r>
                  <a:rPr lang="en-IN" sz="2000" dirty="0"/>
                  <a:t> Traditional trackers display total expenditure but fail to compute statistical averages (</a:t>
                </a:r>
                <a14:m>
                  <m:oMath xmlns:m="http://schemas.openxmlformats.org/officeDocument/2006/math">
                    <m:r>
                      <a:rPr lang="en-IN" sz="2000" i="1"/>
                      <m:t>𝜇</m:t>
                    </m:r>
                  </m:oMath>
                </a14:m>
                <a:r>
                  <a:rPr lang="en-IN" sz="2000" dirty="0"/>
                  <a:t>) or spending variability (</a:t>
                </a:r>
                <a14:m>
                  <m:oMath xmlns:m="http://schemas.openxmlformats.org/officeDocument/2006/math">
                    <m:r>
                      <a:rPr lang="en-IN" sz="2000" i="1"/>
                      <m:t>𝜎</m:t>
                    </m:r>
                  </m:oMath>
                </a14:m>
                <a:r>
                  <a:rPr lang="en-IN" sz="2000" dirty="0"/>
                  <a:t>) per category.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IN" sz="2000" b="1" dirty="0"/>
                  <a:t>Data Privacy &amp; Security Risks:</a:t>
                </a:r>
                <a:r>
                  <a:rPr lang="en-IN" sz="2000" dirty="0"/>
                  <a:t> Uploading sensitive personal financial CSV logs to unverified third-party cloud apps creates privacy vulnerabilities.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IN" sz="2000" b="1" dirty="0"/>
                  <a:t>Lack of Real-Time Warning Alerts:</a:t>
                </a:r>
                <a:r>
                  <a:rPr lang="en-IN" sz="2000" dirty="0"/>
                  <a:t> Generic apps notify users only after budget depletion rather than flagging suspicious transactions at entry.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EE4B444-7372-8A0B-316E-039B2B51EE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2204864"/>
                <a:ext cx="8424937" cy="4062651"/>
              </a:xfrm>
              <a:prstGeom prst="rect">
                <a:avLst/>
              </a:prstGeom>
              <a:blipFill>
                <a:blip r:embed="rId2"/>
                <a:stretch>
                  <a:fillRect l="-651" t="-90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advTm="4000"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97CEDAB-914A-1136-3F45-344D20E4A5F6}"/>
              </a:ext>
            </a:extLst>
          </p:cNvPr>
          <p:cNvSpPr txBox="1"/>
          <p:nvPr/>
        </p:nvSpPr>
        <p:spPr>
          <a:xfrm>
            <a:off x="348916" y="188640"/>
            <a:ext cx="2915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>
                <a:solidFill>
                  <a:schemeClr val="tx2"/>
                </a:solidFill>
              </a:rPr>
              <a:t>Proposed Solution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84AE89-A8AB-D663-3D3B-08824A6772D7}"/>
              </a:ext>
            </a:extLst>
          </p:cNvPr>
          <p:cNvSpPr txBox="1"/>
          <p:nvPr/>
        </p:nvSpPr>
        <p:spPr>
          <a:xfrm>
            <a:off x="467544" y="1203158"/>
            <a:ext cx="76328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u="sng" dirty="0">
                <a:solidFill>
                  <a:srgbClr val="C00000"/>
                </a:solidFill>
              </a:rPr>
              <a:t>How </a:t>
            </a:r>
            <a:r>
              <a:rPr lang="en-IN" sz="2400" b="1" u="sng" dirty="0" err="1">
                <a:solidFill>
                  <a:srgbClr val="C00000"/>
                </a:solidFill>
              </a:rPr>
              <a:t>ExpenseGuard</a:t>
            </a:r>
            <a:r>
              <a:rPr lang="en-IN" sz="2400" b="1" u="sng" dirty="0">
                <a:solidFill>
                  <a:srgbClr val="C00000"/>
                </a:solidFill>
              </a:rPr>
              <a:t> Resolves Spending Visibility &amp; Risk Detection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D0792B0-DED5-B6A6-6BD1-C14397BF45B2}"/>
                  </a:ext>
                </a:extLst>
              </p:cNvPr>
              <p:cNvSpPr txBox="1"/>
              <p:nvPr/>
            </p:nvSpPr>
            <p:spPr>
              <a:xfrm>
                <a:off x="179512" y="1988840"/>
                <a:ext cx="8568952" cy="46782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IN" sz="2000" b="1" dirty="0"/>
                  <a:t>Automated Data Ingestion:</a:t>
                </a:r>
                <a:r>
                  <a:rPr lang="en-IN" sz="2000" dirty="0"/>
                  <a:t> Instant manual transaction entry via modal forms or bulk CSV spreadsheet parsing using the </a:t>
                </a:r>
                <a:r>
                  <a:rPr lang="en-IN" sz="2000" dirty="0" err="1"/>
                  <a:t>FileReader</a:t>
                </a:r>
                <a:r>
                  <a:rPr lang="en-IN" sz="2000" dirty="0"/>
                  <a:t> API.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IN" sz="2000" b="1" dirty="0"/>
                  <a:t>Smart Category Grouping:</a:t>
                </a:r>
                <a:r>
                  <a:rPr lang="en-IN" sz="2000" dirty="0"/>
                  <a:t> Dynamic categorization (Utilities, Subscriptions, Dining, Groceries, Shopping, Transportation) with conic-gradient CSS donut chart visuals.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IN" sz="2000" b="1" dirty="0"/>
                  <a:t>Category Z-Score Engine:</a:t>
                </a:r>
                <a:r>
                  <a:rPr lang="en-IN" sz="2000" dirty="0"/>
                  <a:t> Real-time statistical analysis comparing each expense against category mean (</a:t>
                </a:r>
                <a14:m>
                  <m:oMath xmlns:m="http://schemas.openxmlformats.org/officeDocument/2006/math">
                    <m:r>
                      <a:rPr lang="en-IN" sz="2000" i="1"/>
                      <m:t>𝜇</m:t>
                    </m:r>
                  </m:oMath>
                </a14:m>
                <a:r>
                  <a:rPr lang="en-IN" sz="2000" dirty="0"/>
                  <a:t>) and standard deviation (</a:t>
                </a:r>
                <a14:m>
                  <m:oMath xmlns:m="http://schemas.openxmlformats.org/officeDocument/2006/math">
                    <m:r>
                      <a:rPr lang="en-IN" sz="2000" i="1"/>
                      <m:t>𝜎</m:t>
                    </m:r>
                  </m:oMath>
                </a14:m>
                <a:r>
                  <a:rPr lang="en-IN" sz="2000" dirty="0"/>
                  <a:t>).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IN" sz="2000" b="1" dirty="0"/>
                  <a:t>Dual Risk Classification:</a:t>
                </a:r>
                <a:endParaRPr lang="en-IN" sz="2000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IN" sz="2000" b="1" dirty="0"/>
                  <a:t>High Risk :</a:t>
                </a:r>
                <a:r>
                  <a:rPr lang="en-IN" sz="2000" dirty="0"/>
                  <a:t> </a:t>
                </a:r>
                <a14:m>
                  <m:oMath xmlns:m="http://schemas.openxmlformats.org/officeDocument/2006/math">
                    <m:r>
                      <a:rPr lang="en-IN" sz="2000" i="1"/>
                      <m:t>𝑍</m:t>
                    </m:r>
                    <m:r>
                      <a:rPr lang="en-IN" sz="2000"/>
                      <m:t>≥2.60</m:t>
                    </m:r>
                  </m:oMath>
                </a14:m>
                <a:r>
                  <a:rPr lang="en-IN" sz="2000" dirty="0"/>
                  <a:t>or Amount </a:t>
                </a:r>
                <a14:m>
                  <m:oMath xmlns:m="http://schemas.openxmlformats.org/officeDocument/2006/math">
                    <m:r>
                      <a:rPr lang="en-IN" sz="2000"/>
                      <m:t>≥3.0×</m:t>
                    </m:r>
                  </m:oMath>
                </a14:m>
                <a:r>
                  <a:rPr lang="en-IN" sz="2000" dirty="0"/>
                  <a:t>category mean.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IN" sz="2000" b="1" dirty="0"/>
                  <a:t>Medium Risk :</a:t>
                </a:r>
                <a:r>
                  <a:rPr lang="en-IN" sz="2000" dirty="0"/>
                  <a:t> </a:t>
                </a:r>
                <a14:m>
                  <m:oMath xmlns:m="http://schemas.openxmlformats.org/officeDocument/2006/math">
                    <m:r>
                      <a:rPr lang="en-IN" sz="2000"/>
                      <m:t>1.80≤</m:t>
                    </m:r>
                    <m:r>
                      <a:rPr lang="en-IN" sz="2000" i="1"/>
                      <m:t>𝑍</m:t>
                    </m:r>
                    <m:r>
                      <a:rPr lang="en-IN" sz="2000"/>
                      <m:t>&lt;2.60</m:t>
                    </m:r>
                  </m:oMath>
                </a14:m>
                <a:r>
                  <a:rPr lang="en-IN" sz="2000" dirty="0"/>
                  <a:t>or Amount </a:t>
                </a:r>
                <a14:m>
                  <m:oMath xmlns:m="http://schemas.openxmlformats.org/officeDocument/2006/math">
                    <m:r>
                      <a:rPr lang="en-IN" sz="2000"/>
                      <m:t>≥1.6×</m:t>
                    </m:r>
                  </m:oMath>
                </a14:m>
                <a:r>
                  <a:rPr lang="en-IN" sz="2000" dirty="0"/>
                  <a:t>category mean.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IN" sz="2000" b="1" dirty="0"/>
                  <a:t>100% Client-Side Privacy:</a:t>
                </a:r>
                <a:r>
                  <a:rPr lang="en-IN" sz="2000" dirty="0"/>
                  <a:t> Complete offline capability using browser </a:t>
                </a:r>
                <a:r>
                  <a:rPr lang="en-IN" sz="2000" dirty="0" err="1"/>
                  <a:t>localStorage</a:t>
                </a:r>
                <a:r>
                  <a:rPr lang="en-IN" sz="2000" dirty="0"/>
                  <a:t> and </a:t>
                </a:r>
                <a:r>
                  <a:rPr lang="en-IN" sz="2000" dirty="0" err="1"/>
                  <a:t>sessionStorage</a:t>
                </a:r>
                <a:r>
                  <a:rPr lang="en-IN" sz="2000" dirty="0"/>
                  <a:t>—no financial data leaves the user's device.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IN" sz="2000" b="1" dirty="0"/>
                  <a:t>Budget Limits &amp; Intelligence Reports:</a:t>
                </a:r>
                <a:r>
                  <a:rPr lang="en-IN" sz="2000" dirty="0"/>
                  <a:t> Category limit progress indicators (</a:t>
                </a:r>
                <a14:m>
                  <m:oMath xmlns:m="http://schemas.openxmlformats.org/officeDocument/2006/math">
                    <m:r>
                      <a:rPr lang="en-IN" sz="2000"/>
                      <m:t>≥80%</m:t>
                    </m:r>
                  </m:oMath>
                </a14:m>
                <a:r>
                  <a:rPr lang="en-IN" sz="2000" dirty="0"/>
                  <a:t> amber warning, </a:t>
                </a:r>
                <a14:m>
                  <m:oMath xmlns:m="http://schemas.openxmlformats.org/officeDocument/2006/math">
                    <m:r>
                      <a:rPr lang="en-IN" sz="2000"/>
                      <m:t>≥100%</m:t>
                    </m:r>
                  </m:oMath>
                </a14:m>
                <a:r>
                  <a:rPr lang="en-IN" sz="2000" dirty="0"/>
                  <a:t>red breach) and one-click .txt report export.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D0792B0-DED5-B6A6-6BD1-C14397BF4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1988840"/>
                <a:ext cx="8568952" cy="4678204"/>
              </a:xfrm>
              <a:prstGeom prst="rect">
                <a:avLst/>
              </a:prstGeom>
              <a:blipFill>
                <a:blip r:embed="rId2"/>
                <a:stretch>
                  <a:fillRect l="-640" t="-651" r="-78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6542911"/>
      </p:ext>
    </p:extLst>
  </p:cSld>
  <p:clrMapOvr>
    <a:masterClrMapping/>
  </p:clrMapOvr>
  <p:transition advTm="4000"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53949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500" b="1">
                <a:solidFill>
                  <a:srgbClr val="1F467D"/>
                </a:solidFill>
                <a:latin typeface="Times New Roman"/>
              </a:defRPr>
            </a:pPr>
            <a:r>
              <a:rPr sz="2800" dirty="0"/>
              <a:t>Technical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143000"/>
            <a:ext cx="6217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900" b="1">
                <a:solidFill>
                  <a:srgbClr val="C00000"/>
                </a:solidFill>
                <a:latin typeface="Times New Roman"/>
              </a:defRPr>
            </a:pPr>
            <a:r>
              <a:rPr lang="en-IN" sz="2400" b="1" u="sng" dirty="0">
                <a:solidFill>
                  <a:srgbClr val="C00000"/>
                </a:solidFill>
                <a:latin typeface="Times New Roman"/>
              </a:rPr>
              <a:t>System Architecture &amp; Data Pipeline</a:t>
            </a:r>
            <a:endParaRPr sz="2400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9AEBD40-7D41-5EDC-AAD9-891321F7923B}"/>
                  </a:ext>
                </a:extLst>
              </p:cNvPr>
              <p:cNvSpPr txBox="1"/>
              <p:nvPr/>
            </p:nvSpPr>
            <p:spPr>
              <a:xfrm>
                <a:off x="323528" y="2060848"/>
                <a:ext cx="7920880" cy="40626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IN" sz="2000" b="1" dirty="0"/>
                  <a:t>Frontend Architecture (HTML5 &amp; CSS3):</a:t>
                </a:r>
                <a:r>
                  <a:rPr lang="en-IN" sz="2000" dirty="0"/>
                  <a:t> Responsive dark navy design system utilizing CSS variables, </a:t>
                </a:r>
                <a:r>
                  <a:rPr lang="en-IN" sz="2000" dirty="0" err="1"/>
                  <a:t>glassmorphic</a:t>
                </a:r>
                <a:r>
                  <a:rPr lang="en-IN" sz="2000" dirty="0"/>
                  <a:t> cards, Flexbox/Grid, and multi-page sidebar navigation.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IN" sz="20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IN" sz="2000" b="1" dirty="0"/>
                  <a:t>Modular JavaScript Architecture:</a:t>
                </a:r>
                <a:r>
                  <a:rPr lang="en-IN" sz="2000" dirty="0"/>
                  <a:t> Zero external framework overhead; logic separated into standalone scripts (app.js, transaction.js, anomalies.js, categories.js, budgets.js, reports.js, settings.js).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IN" sz="20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IN" sz="2000" b="1" dirty="0"/>
                  <a:t>Data Processing </a:t>
                </a:r>
                <a:r>
                  <a:rPr lang="en-IN" sz="2000" b="1" dirty="0" err="1"/>
                  <a:t>Pipeline:</a:t>
                </a:r>
                <a:r>
                  <a:rPr lang="en-IN" sz="2000" dirty="0" err="1"/>
                  <a:t>User</a:t>
                </a:r>
                <a:r>
                  <a:rPr lang="en-IN" sz="2000" dirty="0"/>
                  <a:t> Input / CSV Ingestion </a:t>
                </a:r>
                <a14:m>
                  <m:oMath xmlns:m="http://schemas.openxmlformats.org/officeDocument/2006/math">
                    <m:r>
                      <a:rPr lang="en-IN" sz="2000"/>
                      <m:t>→</m:t>
                    </m:r>
                  </m:oMath>
                </a14:m>
                <a:r>
                  <a:rPr lang="en-IN" sz="2000" dirty="0"/>
                  <a:t>Event Capture &amp; </a:t>
                </a:r>
                <a:r>
                  <a:rPr lang="en-IN" sz="2000" dirty="0" err="1"/>
                  <a:t>e.preventDefault</a:t>
                </a:r>
                <a:r>
                  <a:rPr lang="en-IN" sz="2000" dirty="0"/>
                  <a:t>() </a:t>
                </a:r>
                <a14:m>
                  <m:oMath xmlns:m="http://schemas.openxmlformats.org/officeDocument/2006/math">
                    <m:r>
                      <a:rPr lang="en-IN" sz="2000"/>
                      <m:t>→</m:t>
                    </m:r>
                  </m:oMath>
                </a14:m>
                <a:r>
                  <a:rPr lang="en-IN" sz="2000" dirty="0"/>
                  <a:t>Regex Validation </a:t>
                </a:r>
                <a14:m>
                  <m:oMath xmlns:m="http://schemas.openxmlformats.org/officeDocument/2006/math">
                    <m:r>
                      <a:rPr lang="en-IN" sz="2000"/>
                      <m:t>→</m:t>
                    </m:r>
                  </m:oMath>
                </a14:m>
                <a:r>
                  <a:rPr lang="en-IN" sz="2000" dirty="0"/>
                  <a:t>Transaction Object Construction </a:t>
                </a:r>
                <a14:m>
                  <m:oMath xmlns:m="http://schemas.openxmlformats.org/officeDocument/2006/math">
                    <m:r>
                      <a:rPr lang="en-IN" sz="2000"/>
                      <m:t>→</m:t>
                    </m:r>
                  </m:oMath>
                </a14:m>
                <a:r>
                  <a:rPr lang="en-IN" sz="2000" dirty="0"/>
                  <a:t>JSON Serialization &amp; </a:t>
                </a:r>
                <a:r>
                  <a:rPr lang="en-IN" sz="2000" dirty="0" err="1"/>
                  <a:t>LocalStorage</a:t>
                </a:r>
                <a:r>
                  <a:rPr lang="en-IN" sz="2000" dirty="0"/>
                  <a:t> Sync </a:t>
                </a:r>
                <a14:m>
                  <m:oMath xmlns:m="http://schemas.openxmlformats.org/officeDocument/2006/math">
                    <m:r>
                      <a:rPr lang="en-IN" sz="2000"/>
                      <m:t>→</m:t>
                    </m:r>
                  </m:oMath>
                </a14:m>
                <a:r>
                  <a:rPr lang="en-IN" sz="2000" dirty="0"/>
                  <a:t>Z-Score Risk Processing Engine </a:t>
                </a:r>
                <a14:m>
                  <m:oMath xmlns:m="http://schemas.openxmlformats.org/officeDocument/2006/math">
                    <m:r>
                      <a:rPr lang="en-IN" sz="2000"/>
                      <m:t>→</m:t>
                    </m:r>
                  </m:oMath>
                </a14:m>
                <a:r>
                  <a:rPr lang="en-IN" sz="2000" dirty="0"/>
                  <a:t>Dynamic DOM Tree Rendering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9AEBD40-7D41-5EDC-AAD9-891321F792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2060848"/>
                <a:ext cx="7920880" cy="4062651"/>
              </a:xfrm>
              <a:prstGeom prst="rect">
                <a:avLst/>
              </a:prstGeom>
              <a:blipFill>
                <a:blip r:embed="rId2"/>
                <a:stretch>
                  <a:fillRect l="-693" t="-750" r="-3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advTm="4000"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A0CD29-BC77-67E8-7D32-C9B2B717FEB0}"/>
              </a:ext>
            </a:extLst>
          </p:cNvPr>
          <p:cNvSpPr txBox="1"/>
          <p:nvPr/>
        </p:nvSpPr>
        <p:spPr>
          <a:xfrm>
            <a:off x="539552" y="260648"/>
            <a:ext cx="26558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>
                <a:solidFill>
                  <a:schemeClr val="tx2"/>
                </a:solidFill>
              </a:rPr>
              <a:t>Technical Details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4C857B-7034-A1BC-584F-A58B833C79C8}"/>
              </a:ext>
            </a:extLst>
          </p:cNvPr>
          <p:cNvSpPr txBox="1"/>
          <p:nvPr/>
        </p:nvSpPr>
        <p:spPr>
          <a:xfrm>
            <a:off x="539552" y="980728"/>
            <a:ext cx="83529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u="sng" dirty="0">
                <a:solidFill>
                  <a:srgbClr val="C00000"/>
                </a:solidFill>
              </a:rPr>
              <a:t>Direct Mapping of Evaluated JavaScript Topics to </a:t>
            </a:r>
            <a:r>
              <a:rPr lang="en-IN" sz="2400" b="1" u="sng" dirty="0" err="1">
                <a:solidFill>
                  <a:srgbClr val="C00000"/>
                </a:solidFill>
              </a:rPr>
              <a:t>ExpenseGuard</a:t>
            </a:r>
            <a:r>
              <a:rPr lang="en-IN" sz="2400" b="1" u="sng" dirty="0">
                <a:solidFill>
                  <a:srgbClr val="C00000"/>
                </a:solidFill>
              </a:rPr>
              <a:t> Codebase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6710CA3-D8DA-E7A9-F624-12D97C41EC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2105526"/>
              </p:ext>
            </p:extLst>
          </p:nvPr>
        </p:nvGraphicFramePr>
        <p:xfrm>
          <a:off x="251520" y="1811725"/>
          <a:ext cx="8784976" cy="471361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30885">
                  <a:extLst>
                    <a:ext uri="{9D8B030D-6E8A-4147-A177-3AD203B41FA5}">
                      <a16:colId xmlns:a16="http://schemas.microsoft.com/office/drawing/2014/main" val="3485006252"/>
                    </a:ext>
                  </a:extLst>
                </a:gridCol>
                <a:gridCol w="5454091">
                  <a:extLst>
                    <a:ext uri="{9D8B030D-6E8A-4147-A177-3AD203B41FA5}">
                      <a16:colId xmlns:a16="http://schemas.microsoft.com/office/drawing/2014/main" val="3769370559"/>
                    </a:ext>
                  </a:extLst>
                </a:gridCol>
              </a:tblGrid>
              <a:tr h="2946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 u="sng" dirty="0"/>
                        <a:t>Syllabus Concept</a:t>
                      </a:r>
                    </a:p>
                  </a:txBody>
                  <a:tcPr marL="40410" marR="40410" marT="20205" marB="202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 u="sng" dirty="0"/>
                        <a:t>Implementation in </a:t>
                      </a:r>
                      <a:r>
                        <a:rPr lang="en-IN" sz="800" b="1" u="sng" dirty="0" err="1"/>
                        <a:t>ExpenseGuard</a:t>
                      </a:r>
                      <a:r>
                        <a:rPr lang="en-IN" sz="800" b="1" u="sng" dirty="0"/>
                        <a:t> Codebase</a:t>
                      </a:r>
                    </a:p>
                  </a:txBody>
                  <a:tcPr marL="40410" marR="40410" marT="20205" marB="20205" anchor="ctr"/>
                </a:tc>
                <a:extLst>
                  <a:ext uri="{0D108BD9-81ED-4DB2-BD59-A6C34878D82A}">
                    <a16:rowId xmlns:a16="http://schemas.microsoft.com/office/drawing/2014/main" val="2017387660"/>
                  </a:ext>
                </a:extLst>
              </a:tr>
              <a:tr h="5471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var / let / </a:t>
                      </a:r>
                      <a:r>
                        <a:rPr lang="en-IN" sz="800" dirty="0" err="1"/>
                        <a:t>const</a:t>
                      </a:r>
                      <a:endParaRPr lang="en-IN" sz="800" dirty="0"/>
                    </a:p>
                  </a:txBody>
                  <a:tcPr marL="40410" marR="40410" marT="20205" marB="202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const for storage keys/functions; let for counters &amp; state; var explicitly shown in app.js (var EXPENSEGUARD_VERSION).</a:t>
                      </a:r>
                    </a:p>
                  </a:txBody>
                  <a:tcPr marL="40410" marR="40410" marT="20205" marB="20205" anchor="ctr"/>
                </a:tc>
                <a:extLst>
                  <a:ext uri="{0D108BD9-81ED-4DB2-BD59-A6C34878D82A}">
                    <a16:rowId xmlns:a16="http://schemas.microsoft.com/office/drawing/2014/main" val="2225282267"/>
                  </a:ext>
                </a:extLst>
              </a:tr>
              <a:tr h="5471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Data Types &amp; Conversions</a:t>
                      </a:r>
                    </a:p>
                  </a:txBody>
                  <a:tcPr marL="40410" marR="40410" marT="20205" marB="202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String, Number, Boolean, Object, Array; Number(</a:t>
                      </a:r>
                      <a:r>
                        <a:rPr lang="en-IN" sz="800" dirty="0" err="1"/>
                        <a:t>val</a:t>
                      </a:r>
                      <a:r>
                        <a:rPr lang="en-IN" sz="800" dirty="0"/>
                        <a:t>), String(</a:t>
                      </a:r>
                      <a:r>
                        <a:rPr lang="en-IN" sz="800" dirty="0" err="1"/>
                        <a:t>val</a:t>
                      </a:r>
                      <a:r>
                        <a:rPr lang="en-IN" sz="800" dirty="0"/>
                        <a:t>), Boolean(</a:t>
                      </a:r>
                      <a:r>
                        <a:rPr lang="en-IN" sz="800" dirty="0" err="1"/>
                        <a:t>val</a:t>
                      </a:r>
                      <a:r>
                        <a:rPr lang="en-IN" sz="800" dirty="0"/>
                        <a:t>), </a:t>
                      </a:r>
                      <a:r>
                        <a:rPr lang="en-IN" sz="800" dirty="0" err="1"/>
                        <a:t>Number.isFinite</a:t>
                      </a:r>
                      <a:r>
                        <a:rPr lang="en-IN" sz="800" dirty="0"/>
                        <a:t>().</a:t>
                      </a:r>
                    </a:p>
                  </a:txBody>
                  <a:tcPr marL="40410" marR="40410" marT="20205" marB="20205" anchor="ctr"/>
                </a:tc>
                <a:extLst>
                  <a:ext uri="{0D108BD9-81ED-4DB2-BD59-A6C34878D82A}">
                    <a16:rowId xmlns:a16="http://schemas.microsoft.com/office/drawing/2014/main" val="2622351444"/>
                  </a:ext>
                </a:extLst>
              </a:tr>
              <a:tr h="4208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Control Flow &amp; Loops</a:t>
                      </a:r>
                    </a:p>
                  </a:txBody>
                  <a:tcPr marL="40410" marR="40410" marT="20205" marB="202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if/else branching; for loop in CSV parser; for...of in monthly reports; for...in.</a:t>
                      </a:r>
                    </a:p>
                  </a:txBody>
                  <a:tcPr marL="40410" marR="40410" marT="20205" marB="20205" anchor="ctr"/>
                </a:tc>
                <a:extLst>
                  <a:ext uri="{0D108BD9-81ED-4DB2-BD59-A6C34878D82A}">
                    <a16:rowId xmlns:a16="http://schemas.microsoft.com/office/drawing/2014/main" val="320562207"/>
                  </a:ext>
                </a:extLst>
              </a:tr>
              <a:tr h="4208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Functions &amp; Scope</a:t>
                      </a:r>
                    </a:p>
                  </a:txBody>
                  <a:tcPr marL="40410" marR="40410" marT="20205" marB="202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Declarations (calculateMean), arrow callbacks, IIFE in transaction.js, module lexical scope.</a:t>
                      </a:r>
                    </a:p>
                  </a:txBody>
                  <a:tcPr marL="40410" marR="40410" marT="20205" marB="20205" anchor="ctr"/>
                </a:tc>
                <a:extLst>
                  <a:ext uri="{0D108BD9-81ED-4DB2-BD59-A6C34878D82A}">
                    <a16:rowId xmlns:a16="http://schemas.microsoft.com/office/drawing/2014/main" val="3820935624"/>
                  </a:ext>
                </a:extLst>
              </a:tr>
              <a:tr h="4208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Array Methods &amp; HOFs</a:t>
                      </a:r>
                    </a:p>
                  </a:txBody>
                  <a:tcPr marL="40410" marR="40410" marT="20205" marB="202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push(), splice(), slice(); Iteration HOFs: forEach(), map(), filter(), reduce(), sort().</a:t>
                      </a:r>
                    </a:p>
                  </a:txBody>
                  <a:tcPr marL="40410" marR="40410" marT="20205" marB="20205" anchor="ctr"/>
                </a:tc>
                <a:extLst>
                  <a:ext uri="{0D108BD9-81ED-4DB2-BD59-A6C34878D82A}">
                    <a16:rowId xmlns:a16="http://schemas.microsoft.com/office/drawing/2014/main" val="579766537"/>
                  </a:ext>
                </a:extLst>
              </a:tr>
              <a:tr h="5471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Objects &amp; Destructuring</a:t>
                      </a:r>
                    </a:p>
                  </a:txBody>
                  <a:tcPr marL="40410" marR="40410" marT="20205" marB="202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Transaction object literals; Object.keys(), values(), entries(); Destructuring (const { isValid } = ...).</a:t>
                      </a:r>
                    </a:p>
                  </a:txBody>
                  <a:tcPr marL="40410" marR="40410" marT="20205" marB="20205" anchor="ctr"/>
                </a:tc>
                <a:extLst>
                  <a:ext uri="{0D108BD9-81ED-4DB2-BD59-A6C34878D82A}">
                    <a16:rowId xmlns:a16="http://schemas.microsoft.com/office/drawing/2014/main" val="991752454"/>
                  </a:ext>
                </a:extLst>
              </a:tr>
              <a:tr h="4208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JSON Serialization</a:t>
                      </a:r>
                    </a:p>
                  </a:txBody>
                  <a:tcPr marL="40410" marR="40410" marT="20205" marB="202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JSON.stringify() for array state saving; JSON.parse() inside try...catch blocks for safe retrieval.</a:t>
                      </a:r>
                    </a:p>
                  </a:txBody>
                  <a:tcPr marL="40410" marR="40410" marT="20205" marB="20205" anchor="ctr"/>
                </a:tc>
                <a:extLst>
                  <a:ext uri="{0D108BD9-81ED-4DB2-BD59-A6C34878D82A}">
                    <a16:rowId xmlns:a16="http://schemas.microsoft.com/office/drawing/2014/main" val="3844311467"/>
                  </a:ext>
                </a:extLst>
              </a:tr>
              <a:tr h="5471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DOM &amp; Event Handling</a:t>
                      </a:r>
                    </a:p>
                  </a:txBody>
                  <a:tcPr marL="40410" marR="40410" marT="20205" marB="202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getElementById(), querySelector(), addEventListener() for click, submit, drop; e.preventDefault().</a:t>
                      </a:r>
                    </a:p>
                  </a:txBody>
                  <a:tcPr marL="40410" marR="40410" marT="20205" marB="20205" anchor="ctr"/>
                </a:tc>
                <a:extLst>
                  <a:ext uri="{0D108BD9-81ED-4DB2-BD59-A6C34878D82A}">
                    <a16:rowId xmlns:a16="http://schemas.microsoft.com/office/drawing/2014/main" val="4199383408"/>
                  </a:ext>
                </a:extLst>
              </a:tr>
              <a:tr h="5471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Storage API &amp; Regex</a:t>
                      </a:r>
                    </a:p>
                  </a:txBody>
                  <a:tcPr marL="40410" marR="40410" marT="20205" marB="202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 err="1"/>
                        <a:t>localStorage</a:t>
                      </a:r>
                      <a:r>
                        <a:rPr lang="en-IN" sz="800" dirty="0"/>
                        <a:t> for transactions/settings; </a:t>
                      </a:r>
                      <a:r>
                        <a:rPr lang="en-IN" sz="800" dirty="0" err="1"/>
                        <a:t>sessionStorage</a:t>
                      </a:r>
                      <a:r>
                        <a:rPr lang="en-IN" sz="800" dirty="0"/>
                        <a:t> for auth state; Regex password validation</a:t>
                      </a:r>
                    </a:p>
                  </a:txBody>
                  <a:tcPr marL="40410" marR="40410" marT="20205" marB="20205" anchor="ctr"/>
                </a:tc>
                <a:extLst>
                  <a:ext uri="{0D108BD9-81ED-4DB2-BD59-A6C34878D82A}">
                    <a16:rowId xmlns:a16="http://schemas.microsoft.com/office/drawing/2014/main" val="40724681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0312150"/>
      </p:ext>
    </p:extLst>
  </p:cSld>
  <p:clrMapOvr>
    <a:masterClrMapping/>
  </p:clrMapOvr>
  <p:transition advTm="4000"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2BE455-D6AA-F2C8-0C5C-FFEC45805AE9}"/>
              </a:ext>
            </a:extLst>
          </p:cNvPr>
          <p:cNvSpPr txBox="1"/>
          <p:nvPr/>
        </p:nvSpPr>
        <p:spPr>
          <a:xfrm>
            <a:off x="445168" y="288758"/>
            <a:ext cx="26558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>
                <a:solidFill>
                  <a:schemeClr val="tx2"/>
                </a:solidFill>
              </a:rPr>
              <a:t>Technical Details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F100E6-284E-2808-908D-4C807136E6BC}"/>
              </a:ext>
            </a:extLst>
          </p:cNvPr>
          <p:cNvSpPr txBox="1"/>
          <p:nvPr/>
        </p:nvSpPr>
        <p:spPr>
          <a:xfrm>
            <a:off x="1619672" y="1052736"/>
            <a:ext cx="61755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u="sng" dirty="0">
                <a:solidFill>
                  <a:srgbClr val="C00000"/>
                </a:solidFill>
              </a:rPr>
              <a:t>Object Representation, Array Storage &amp; Browser Persistence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61F5AB-4ED3-45BE-3FA3-A3C68620CD04}"/>
              </a:ext>
            </a:extLst>
          </p:cNvPr>
          <p:cNvSpPr txBox="1"/>
          <p:nvPr/>
        </p:nvSpPr>
        <p:spPr>
          <a:xfrm>
            <a:off x="433137" y="1916832"/>
            <a:ext cx="845934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Transaction Object Schema: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600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600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600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600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600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600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600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Array-Based In-Memory Storage:</a:t>
            </a:r>
            <a:r>
              <a:rPr lang="en-IN" sz="1600" dirty="0"/>
              <a:t> Global JS arrays (transactions = []) updated immutably using slice(), map(), and filter().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Browser Persistence via </a:t>
            </a:r>
            <a:r>
              <a:rPr lang="en-IN" sz="1600" b="1" dirty="0" err="1"/>
              <a:t>LocalStorage</a:t>
            </a:r>
            <a:r>
              <a:rPr lang="en-IN" sz="1600" b="1" dirty="0"/>
              <a:t>:</a:t>
            </a:r>
            <a:r>
              <a:rPr lang="en-IN" sz="1600" dirty="0"/>
              <a:t> Serialized data stored under key "</a:t>
            </a:r>
            <a:r>
              <a:rPr lang="en-IN" sz="1600" dirty="0" err="1"/>
              <a:t>expenseGuardTransactions</a:t>
            </a:r>
            <a:r>
              <a:rPr lang="en-IN" sz="1600" dirty="0"/>
              <a:t>". Wrapped by </a:t>
            </a:r>
            <a:r>
              <a:rPr lang="en-IN" sz="1600" dirty="0" err="1"/>
              <a:t>getTransactions</a:t>
            </a:r>
            <a:r>
              <a:rPr lang="en-IN" sz="1600" dirty="0"/>
              <a:t>() and </a:t>
            </a:r>
            <a:r>
              <a:rPr lang="en-IN" sz="1600" dirty="0" err="1"/>
              <a:t>saveTransactions</a:t>
            </a:r>
            <a:r>
              <a:rPr lang="en-IN" sz="1600" dirty="0"/>
              <a:t>() helper functions.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Safe JSON Parsing:</a:t>
            </a:r>
            <a:r>
              <a:rPr lang="en-IN" sz="1600" dirty="0"/>
              <a:t> </a:t>
            </a:r>
            <a:r>
              <a:rPr lang="en-IN" sz="1600" dirty="0" err="1"/>
              <a:t>JSON.parse</a:t>
            </a:r>
            <a:r>
              <a:rPr lang="en-IN" sz="1600" dirty="0"/>
              <a:t>() executes inside try...catch blocks to provide fallback arrays if data is corrupted or uninitialized.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Session Lifecycle:</a:t>
            </a:r>
            <a:r>
              <a:rPr lang="en-IN" sz="1600" dirty="0"/>
              <a:t> Controlled via </a:t>
            </a:r>
            <a:r>
              <a:rPr lang="en-IN" sz="1600" dirty="0" err="1"/>
              <a:t>sessionStorage</a:t>
            </a:r>
            <a:r>
              <a:rPr lang="en-IN" sz="1600" dirty="0"/>
              <a:t> (</a:t>
            </a:r>
            <a:r>
              <a:rPr lang="en-IN" sz="1600" dirty="0" err="1"/>
              <a:t>expenseGuardLoggedIn</a:t>
            </a:r>
            <a:r>
              <a:rPr lang="en-IN" sz="1600" dirty="0"/>
              <a:t> === "true"), automatically cleared on logout.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9C830E-37D5-D204-AB54-8DCDF32FC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729" y="2348880"/>
            <a:ext cx="3024336" cy="1544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665225"/>
      </p:ext>
    </p:extLst>
  </p:cSld>
  <p:clrMapOvr>
    <a:masterClrMapping/>
  </p:clrMapOvr>
  <p:transition advTm="4000"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41CD94-1609-F5AD-EDEE-CF0452656641}"/>
              </a:ext>
            </a:extLst>
          </p:cNvPr>
          <p:cNvSpPr txBox="1"/>
          <p:nvPr/>
        </p:nvSpPr>
        <p:spPr>
          <a:xfrm>
            <a:off x="469232" y="360947"/>
            <a:ext cx="30520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>
                <a:solidFill>
                  <a:schemeClr val="tx2"/>
                </a:solidFill>
              </a:rPr>
              <a:t>Anomaly Detection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E9B38DD-B3C7-0F6A-611F-CA37D52F1D4C}"/>
                  </a:ext>
                </a:extLst>
              </p:cNvPr>
              <p:cNvSpPr txBox="1"/>
              <p:nvPr/>
            </p:nvSpPr>
            <p:spPr>
              <a:xfrm>
                <a:off x="782053" y="1052736"/>
                <a:ext cx="746235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2400" b="1" u="sng" dirty="0">
                    <a:solidFill>
                      <a:srgbClr val="C00000"/>
                    </a:solidFill>
                  </a:rPr>
                  <a:t>Standard Normal Deviate Metric (</a:t>
                </a:r>
                <a14:m>
                  <m:oMath xmlns:m="http://schemas.openxmlformats.org/officeDocument/2006/math">
                    <m:r>
                      <a:rPr lang="en-IN" sz="2400" b="1" i="1" u="sng">
                        <a:solidFill>
                          <a:srgbClr val="C00000"/>
                        </a:solidFill>
                      </a:rPr>
                      <m:t>𝒁</m:t>
                    </m:r>
                  </m:oMath>
                </a14:m>
                <a:r>
                  <a:rPr lang="en-IN" sz="2400" b="1" u="sng" dirty="0">
                    <a:solidFill>
                      <a:srgbClr val="C00000"/>
                    </a:solidFill>
                  </a:rPr>
                  <a:t>-Score), Category Baselines &amp; Fallbacks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E9B38DD-B3C7-0F6A-611F-CA37D52F1D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053" y="1052736"/>
                <a:ext cx="7462355" cy="830997"/>
              </a:xfrm>
              <a:prstGeom prst="rect">
                <a:avLst/>
              </a:prstGeom>
              <a:blipFill>
                <a:blip r:embed="rId2"/>
                <a:stretch>
                  <a:fillRect t="-5882" b="-161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AA05D84-2C36-0C58-0251-5861FF9FB3E6}"/>
                  </a:ext>
                </a:extLst>
              </p:cNvPr>
              <p:cNvSpPr txBox="1"/>
              <p:nvPr/>
            </p:nvSpPr>
            <p:spPr>
              <a:xfrm>
                <a:off x="323529" y="1988840"/>
                <a:ext cx="8424936" cy="481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IN" b="1" dirty="0"/>
                  <a:t>Mathematical Z-Score Formulation:</a:t>
                </a:r>
                <a:endParaRPr lang="en-IN" dirty="0"/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i="1"/>
                      <m:t>𝜇</m:t>
                    </m:r>
                    <m:r>
                      <a:rPr lang="en-IN"/>
                      <m:t>=</m:t>
                    </m:r>
                    <m:f>
                      <m:fPr>
                        <m:ctrlPr>
                          <a:rPr lang="en-IN" i="1"/>
                        </m:ctrlPr>
                      </m:fPr>
                      <m:num>
                        <m:nary>
                          <m:naryPr>
                            <m:chr m:val="∑"/>
                            <m:limLoc m:val="undOvr"/>
                            <m:ctrlPr>
                              <a:rPr lang="en-IN" i="1"/>
                            </m:ctrlPr>
                          </m:naryPr>
                          <m:sub>
                            <m:r>
                              <a:rPr lang="en-IN" i="1"/>
                              <m:t>𝑖</m:t>
                            </m:r>
                            <m:r>
                              <a:rPr lang="en-IN"/>
                              <m:t>=1</m:t>
                            </m:r>
                          </m:sub>
                          <m:sup>
                            <m:r>
                              <a:rPr lang="en-IN" i="1"/>
                              <m:t>𝑁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IN" i="1"/>
                                </m:ctrlPr>
                              </m:sSubPr>
                              <m:e>
                                <m:r>
                                  <a:rPr lang="en-IN" i="1"/>
                                  <m:t>𝑋</m:t>
                                </m:r>
                              </m:e>
                              <m:sub>
                                <m:r>
                                  <a:rPr lang="en-IN" i="1"/>
                                  <m:t>𝑖</m:t>
                                </m:r>
                              </m:sub>
                            </m:sSub>
                          </m:e>
                        </m:nary>
                      </m:num>
                      <m:den>
                        <m:r>
                          <a:rPr lang="en-IN" i="1"/>
                          <m:t>𝑁</m:t>
                        </m:r>
                      </m:den>
                    </m:f>
                    <m:r>
                      <a:rPr lang="en-IN"/>
                      <m:t>, </m:t>
                    </m:r>
                    <m:r>
                      <a:rPr lang="en-IN" i="1"/>
                      <m:t>𝜎</m:t>
                    </m:r>
                    <m:r>
                      <a:rPr lang="en-IN"/>
                      <m:t>=</m:t>
                    </m:r>
                    <m:rad>
                      <m:radPr>
                        <m:degHide m:val="on"/>
                        <m:ctrlPr>
                          <a:rPr lang="en-IN" i="1"/>
                        </m:ctrlPr>
                      </m:radPr>
                      <m:deg/>
                      <m:e>
                        <m:f>
                          <m:fPr>
                            <m:ctrlPr>
                              <a:rPr lang="en-IN" i="1"/>
                            </m:ctrlPr>
                          </m:fPr>
                          <m:num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en-IN" i="1"/>
                                </m:ctrlPr>
                              </m:naryPr>
                              <m:sub>
                                <m:r>
                                  <a:rPr lang="en-IN" i="1"/>
                                  <m:t>𝑖</m:t>
                                </m:r>
                                <m:r>
                                  <a:rPr lang="en-IN"/>
                                  <m:t>=1</m:t>
                                </m:r>
                              </m:sub>
                              <m:sup>
                                <m:r>
                                  <a:rPr lang="en-IN" i="1"/>
                                  <m:t>𝑁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en-IN" i="1"/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IN" i="1"/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IN" i="1"/>
                                            </m:ctrlPr>
                                          </m:sSubPr>
                                          <m:e>
                                            <m:r>
                                              <a:rPr lang="en-IN" i="1"/>
                                              <m:t>𝑋</m:t>
                                            </m:r>
                                          </m:e>
                                          <m:sub>
                                            <m:r>
                                              <a:rPr lang="en-IN" i="1"/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IN"/>
                                          <m:t>−</m:t>
                                        </m:r>
                                        <m:r>
                                          <a:rPr lang="en-IN" i="1"/>
                                          <m:t>𝜇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IN"/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num>
                          <m:den>
                            <m:r>
                              <a:rPr lang="en-IN" i="1"/>
                              <m:t>𝑁</m:t>
                            </m:r>
                          </m:den>
                        </m:f>
                      </m:e>
                    </m:rad>
                    <m:r>
                      <a:rPr lang="en-IN"/>
                      <m:t>, </m:t>
                    </m:r>
                    <m:r>
                      <a:rPr lang="en-IN" i="1"/>
                      <m:t>𝑍</m:t>
                    </m:r>
                    <m:r>
                      <a:rPr lang="en-IN"/>
                      <m:t>=</m:t>
                    </m:r>
                    <m:f>
                      <m:fPr>
                        <m:ctrlPr>
                          <a:rPr lang="en-IN" i="1"/>
                        </m:ctrlPr>
                      </m:fPr>
                      <m:num>
                        <m:r>
                          <a:rPr lang="en-IN" i="1"/>
                          <m:t>𝑋</m:t>
                        </m:r>
                        <m:r>
                          <a:rPr lang="en-IN"/>
                          <m:t>−</m:t>
                        </m:r>
                        <m:r>
                          <a:rPr lang="en-IN" i="1"/>
                          <m:t>𝜇</m:t>
                        </m:r>
                      </m:num>
                      <m:den>
                        <m:r>
                          <a:rPr lang="en-IN" i="1"/>
                          <m:t>𝜎</m:t>
                        </m:r>
                      </m:den>
                    </m:f>
                  </m:oMath>
                </a14:m>
                <a:endParaRPr lang="en-IN" dirty="0"/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IN" i="1" dirty="0"/>
                  <a:t>(Where </a:t>
                </a:r>
                <a14:m>
                  <m:oMath xmlns:m="http://schemas.openxmlformats.org/officeDocument/2006/math">
                    <m:r>
                      <a:rPr lang="en-IN" i="1"/>
                      <m:t>𝑋</m:t>
                    </m:r>
                  </m:oMath>
                </a14:m>
                <a:r>
                  <a:rPr lang="en-IN" i="1" dirty="0"/>
                  <a:t>= Amount, </a:t>
                </a:r>
                <a14:m>
                  <m:oMath xmlns:m="http://schemas.openxmlformats.org/officeDocument/2006/math">
                    <m:r>
                      <a:rPr lang="en-IN" i="1"/>
                      <m:t>𝜇</m:t>
                    </m:r>
                  </m:oMath>
                </a14:m>
                <a:r>
                  <a:rPr lang="en-IN" i="1" dirty="0"/>
                  <a:t>= Category Mean, </a:t>
                </a:r>
                <a14:m>
                  <m:oMath xmlns:m="http://schemas.openxmlformats.org/officeDocument/2006/math">
                    <m:r>
                      <a:rPr lang="en-IN" i="1"/>
                      <m:t>𝜎</m:t>
                    </m:r>
                  </m:oMath>
                </a14:m>
                <a:r>
                  <a:rPr lang="en-IN" i="1" dirty="0"/>
                  <a:t>= Category Standard Deviation, </a:t>
                </a:r>
                <a14:m>
                  <m:oMath xmlns:m="http://schemas.openxmlformats.org/officeDocument/2006/math">
                    <m:r>
                      <a:rPr lang="en-IN" i="1"/>
                      <m:t>𝑍</m:t>
                    </m:r>
                  </m:oMath>
                </a14:m>
                <a:r>
                  <a:rPr lang="en-IN" i="1" dirty="0"/>
                  <a:t>= Z-Score)</a:t>
                </a:r>
                <a:endParaRPr lang="en-IN" dirty="0"/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IN" b="1" dirty="0"/>
                  <a:t>Category-Wise Segmentation:</a:t>
                </a:r>
                <a:r>
                  <a:rPr lang="en-IN" dirty="0"/>
                  <a:t> Baselines (</a:t>
                </a:r>
                <a14:m>
                  <m:oMath xmlns:m="http://schemas.openxmlformats.org/officeDocument/2006/math">
                    <m:r>
                      <a:rPr lang="en-IN" i="1"/>
                      <m:t>𝜇</m:t>
                    </m:r>
                    <m:r>
                      <a:rPr lang="en-IN"/>
                      <m:t>,</m:t>
                    </m:r>
                    <m:r>
                      <a:rPr lang="en-IN" i="1"/>
                      <m:t>𝜎</m:t>
                    </m:r>
                  </m:oMath>
                </a14:m>
                <a:r>
                  <a:rPr lang="en-IN" dirty="0"/>
                  <a:t>) computed independently per spending bucket.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IN" b="1" dirty="0"/>
                  <a:t>Risk Threshold Criteria:</a:t>
                </a:r>
                <a:endParaRPr lang="en-IN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IN" b="1" dirty="0"/>
                  <a:t>High Risk ( Red):</a:t>
                </a:r>
                <a:r>
                  <a:rPr lang="en-IN" dirty="0"/>
                  <a:t> </a:t>
                </a:r>
                <a14:m>
                  <m:oMath xmlns:m="http://schemas.openxmlformats.org/officeDocument/2006/math">
                    <m:r>
                      <a:rPr lang="en-IN" i="1"/>
                      <m:t>𝑍</m:t>
                    </m:r>
                    <m:r>
                      <a:rPr lang="en-IN"/>
                      <m:t>≥2.60</m:t>
                    </m:r>
                  </m:oMath>
                </a14:m>
                <a:r>
                  <a:rPr lang="en-IN" dirty="0"/>
                  <a:t>OR Spending Pattern Ratio (</a:t>
                </a:r>
                <a14:m>
                  <m:oMath xmlns:m="http://schemas.openxmlformats.org/officeDocument/2006/math">
                    <m:r>
                      <a:rPr lang="en-IN" i="1"/>
                      <m:t>𝑋</m:t>
                    </m:r>
                    <m:r>
                      <a:rPr lang="en-IN"/>
                      <m:t>/</m:t>
                    </m:r>
                    <m:r>
                      <a:rPr lang="en-IN" i="1"/>
                      <m:t>𝜇</m:t>
                    </m:r>
                  </m:oMath>
                </a14:m>
                <a:r>
                  <a:rPr lang="en-IN" dirty="0"/>
                  <a:t>) </a:t>
                </a:r>
                <a14:m>
                  <m:oMath xmlns:m="http://schemas.openxmlformats.org/officeDocument/2006/math">
                    <m:r>
                      <a:rPr lang="en-IN"/>
                      <m:t>≥3.00×</m:t>
                    </m:r>
                  </m:oMath>
                </a14:m>
                <a:r>
                  <a:rPr lang="en-IN" dirty="0"/>
                  <a:t>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IN" b="1" dirty="0"/>
                  <a:t>Medium Risk ( Yellow):</a:t>
                </a:r>
                <a:r>
                  <a:rPr lang="en-IN" dirty="0"/>
                  <a:t> </a:t>
                </a:r>
                <a14:m>
                  <m:oMath xmlns:m="http://schemas.openxmlformats.org/officeDocument/2006/math">
                    <m:r>
                      <a:rPr lang="en-IN"/>
                      <m:t>1.80≤</m:t>
                    </m:r>
                    <m:r>
                      <a:rPr lang="en-IN" i="1"/>
                      <m:t>𝑍</m:t>
                    </m:r>
                    <m:r>
                      <a:rPr lang="en-IN"/>
                      <m:t>&lt;2.60</m:t>
                    </m:r>
                  </m:oMath>
                </a14:m>
                <a:r>
                  <a:rPr lang="en-IN" dirty="0"/>
                  <a:t>OR Spending Pattern Ratio (</a:t>
                </a:r>
                <a14:m>
                  <m:oMath xmlns:m="http://schemas.openxmlformats.org/officeDocument/2006/math">
                    <m:r>
                      <a:rPr lang="en-IN" i="1"/>
                      <m:t>𝑋</m:t>
                    </m:r>
                    <m:r>
                      <a:rPr lang="en-IN"/>
                      <m:t>/</m:t>
                    </m:r>
                    <m:r>
                      <a:rPr lang="en-IN" i="1"/>
                      <m:t>𝜇</m:t>
                    </m:r>
                  </m:oMath>
                </a14:m>
                <a:r>
                  <a:rPr lang="en-IN" dirty="0"/>
                  <a:t>) </a:t>
                </a:r>
                <a14:m>
                  <m:oMath xmlns:m="http://schemas.openxmlformats.org/officeDocument/2006/math">
                    <m:r>
                      <a:rPr lang="en-IN"/>
                      <m:t>≥1.60×</m:t>
                    </m:r>
                  </m:oMath>
                </a14:m>
                <a:r>
                  <a:rPr lang="en-IN" dirty="0"/>
                  <a:t>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IN" b="1" dirty="0"/>
                  <a:t>Normal ( Green):</a:t>
                </a:r>
                <a:r>
                  <a:rPr lang="en-IN" dirty="0"/>
                  <a:t> </a:t>
                </a:r>
                <a14:m>
                  <m:oMath xmlns:m="http://schemas.openxmlformats.org/officeDocument/2006/math">
                    <m:r>
                      <a:rPr lang="en-IN" i="1"/>
                      <m:t>𝑍</m:t>
                    </m:r>
                    <m:r>
                      <a:rPr lang="en-IN"/>
                      <m:t>&lt;1.80</m:t>
                    </m:r>
                  </m:oMath>
                </a14:m>
                <a:r>
                  <a:rPr lang="en-IN" dirty="0"/>
                  <a:t>and Pattern Ratio </a:t>
                </a:r>
                <a14:m>
                  <m:oMath xmlns:m="http://schemas.openxmlformats.org/officeDocument/2006/math">
                    <m:r>
                      <a:rPr lang="en-IN"/>
                      <m:t>&lt;1.60×</m:t>
                    </m:r>
                  </m:oMath>
                </a14:m>
                <a:r>
                  <a:rPr lang="en-IN" dirty="0"/>
                  <a:t>.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IN" b="1" dirty="0"/>
                  <a:t>Fallback Logic:</a:t>
                </a:r>
                <a:endParaRPr lang="en-IN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IN" b="1" dirty="0"/>
                  <a:t>Single-Transaction Category (</a:t>
                </a:r>
                <a14:m>
                  <m:oMath xmlns:m="http://schemas.openxmlformats.org/officeDocument/2006/math">
                    <m:r>
                      <a:rPr lang="en-IN" i="1"/>
                      <m:t>𝑁</m:t>
                    </m:r>
                    <m:r>
                      <a:rPr lang="en-IN"/>
                      <m:t>&lt;2</m:t>
                    </m:r>
                  </m:oMath>
                </a14:m>
                <a:r>
                  <a:rPr lang="en-IN" b="1" dirty="0"/>
                  <a:t>):</a:t>
                </a:r>
                <a:r>
                  <a:rPr lang="en-IN" dirty="0"/>
                  <a:t> Standard deviation cannot be calculated; engine compares amount against global mean (</a:t>
                </a:r>
                <a14:m>
                  <m:oMath xmlns:m="http://schemas.openxmlformats.org/officeDocument/2006/math">
                    <m:r>
                      <a:rPr lang="en-IN" i="1"/>
                      <m:t>𝑋</m:t>
                    </m:r>
                    <m:r>
                      <a:rPr lang="en-IN"/>
                      <m:t>≥1.6×</m:t>
                    </m:r>
                    <m:r>
                      <m:rPr>
                        <m:nor/>
                      </m:rPr>
                      <a:rPr lang="en-IN"/>
                      <m:t>globalMean</m:t>
                    </m:r>
                  </m:oMath>
                </a14:m>
                <a:r>
                  <a:rPr lang="en-IN" dirty="0"/>
                  <a:t>).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IN" b="1" dirty="0"/>
                  <a:t>Zero Variance (</a:t>
                </a:r>
                <a14:m>
                  <m:oMath xmlns:m="http://schemas.openxmlformats.org/officeDocument/2006/math">
                    <m:r>
                      <a:rPr lang="en-IN" i="1"/>
                      <m:t>𝜎</m:t>
                    </m:r>
                    <m:r>
                      <a:rPr lang="en-IN"/>
                      <m:t>=0</m:t>
                    </m:r>
                  </m:oMath>
                </a14:m>
                <a:r>
                  <a:rPr lang="en-IN" b="1" dirty="0"/>
                  <a:t>):</a:t>
                </a:r>
                <a:r>
                  <a:rPr lang="en-IN" dirty="0"/>
                  <a:t> Prevents division-by-zero errors when past amounts are identical by enforcing pattern ratio rules.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IN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AA05D84-2C36-0C58-0251-5861FF9FB3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9" y="1988840"/>
                <a:ext cx="8424936" cy="4810997"/>
              </a:xfrm>
              <a:prstGeom prst="rect">
                <a:avLst/>
              </a:prstGeom>
              <a:blipFill>
                <a:blip r:embed="rId3"/>
                <a:stretch>
                  <a:fillRect l="-434" t="-634" r="-108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7090133"/>
      </p:ext>
    </p:extLst>
  </p:cSld>
  <p:clrMapOvr>
    <a:masterClrMapping/>
  </p:clrMapOvr>
  <p:transition advTm="4000"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53949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500" b="1">
                <a:solidFill>
                  <a:srgbClr val="1F467D"/>
                </a:solidFill>
                <a:latin typeface="Times New Roman"/>
              </a:defRPr>
            </a:pPr>
            <a:r>
              <a:rPr sz="2800" dirty="0"/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124744"/>
            <a:ext cx="62179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900" b="1">
                <a:solidFill>
                  <a:srgbClr val="C00000"/>
                </a:solidFill>
                <a:latin typeface="Times New Roman"/>
              </a:defRPr>
            </a:pPr>
            <a:r>
              <a:rPr lang="en-IN" sz="2400" b="1" u="sng" dirty="0">
                <a:solidFill>
                  <a:srgbClr val="C00000"/>
                </a:solidFill>
                <a:latin typeface="Times New Roman"/>
              </a:rPr>
              <a:t>Application Modules &amp; Interactive Capabilities</a:t>
            </a:r>
            <a:endParaRPr sz="2400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08B189A-5165-3D70-602C-C692B5CF40A5}"/>
                  </a:ext>
                </a:extLst>
              </p:cNvPr>
              <p:cNvSpPr txBox="1"/>
              <p:nvPr/>
            </p:nvSpPr>
            <p:spPr>
              <a:xfrm>
                <a:off x="323528" y="1940054"/>
                <a:ext cx="8496943" cy="48013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IN" b="1" dirty="0"/>
                  <a:t>1. Onboarding &amp; Auth:</a:t>
                </a:r>
                <a:r>
                  <a:rPr lang="en-IN" dirty="0"/>
                  <a:t> Registration with 12-char Regex password validation and duplicate email checks.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IN" b="1" dirty="0"/>
                  <a:t>2. Financial Dashboard:</a:t>
                </a:r>
                <a:r>
                  <a:rPr lang="en-IN" dirty="0"/>
                  <a:t> Real-time KPI summary cards (Total Spend, Count, Anomalies Count, Average Expense).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IN" b="1" dirty="0"/>
                  <a:t>3. Transactions Ledger:</a:t>
                </a:r>
                <a:r>
                  <a:rPr lang="en-IN" dirty="0"/>
                  <a:t> Sorted newest-first, real-time search, category filter, risk filter, and details modal.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IN" b="1" dirty="0"/>
                  <a:t>4. Anomaly </a:t>
                </a:r>
                <a:r>
                  <a:rPr lang="en-IN" b="1" dirty="0" err="1"/>
                  <a:t>Center</a:t>
                </a:r>
                <a:r>
                  <a:rPr lang="en-IN" b="1" dirty="0"/>
                  <a:t>:</a:t>
                </a:r>
                <a:r>
                  <a:rPr lang="en-IN" dirty="0"/>
                  <a:t> Portfolio risk gauge, risk level filter tabs (High/Medium), and synthetic demo anomaly injector.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IN" b="1" dirty="0"/>
                  <a:t>5. Smart Category Analysis:</a:t>
                </a:r>
                <a:r>
                  <a:rPr lang="en-IN" dirty="0"/>
                  <a:t> Conic-gradient CSS donut chart visualization, top spending highlights, and text insights.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IN" b="1" dirty="0"/>
                  <a:t>6. Budget Manager:</a:t>
                </a:r>
                <a:r>
                  <a:rPr lang="en-IN" dirty="0"/>
                  <a:t> Monthly spending limit caps per category with visual progress bar warning alerts (</a:t>
                </a:r>
                <a14:m>
                  <m:oMath xmlns:m="http://schemas.openxmlformats.org/officeDocument/2006/math">
                    <m:r>
                      <a:rPr lang="en-IN"/>
                      <m:t>≥80%</m:t>
                    </m:r>
                  </m:oMath>
                </a14:m>
                <a:r>
                  <a:rPr lang="en-IN" dirty="0"/>
                  <a:t>, </a:t>
                </a:r>
                <a14:m>
                  <m:oMath xmlns:m="http://schemas.openxmlformats.org/officeDocument/2006/math">
                    <m:r>
                      <a:rPr lang="en-IN"/>
                      <m:t>≥100%</m:t>
                    </m:r>
                  </m:oMath>
                </a14:m>
                <a:r>
                  <a:rPr lang="en-IN" dirty="0"/>
                  <a:t>).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IN" b="1" dirty="0"/>
                  <a:t>7. Intelligence Reports:</a:t>
                </a:r>
                <a:r>
                  <a:rPr lang="en-IN" dirty="0"/>
                  <a:t> Chronological summaries, top 5 expense leaderboard, and one-click .txt file export.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IN" b="1" dirty="0"/>
                  <a:t>8. Interactive Evaluation Lab:</a:t>
                </a:r>
                <a:r>
                  <a:rPr lang="en-IN" dirty="0"/>
                  <a:t> Controls for CSV drag-and-drop parsing and testing array HOF operations (map, filter, reduce, sort).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IN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08B189A-5165-3D70-602C-C692B5CF40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1940054"/>
                <a:ext cx="8496943" cy="4801314"/>
              </a:xfrm>
              <a:prstGeom prst="rect">
                <a:avLst/>
              </a:prstGeom>
              <a:blipFill>
                <a:blip r:embed="rId2"/>
                <a:stretch>
                  <a:fillRect l="-430" t="-635" r="-10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advTm="4000"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53949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500" b="1">
                <a:solidFill>
                  <a:srgbClr val="1F467D"/>
                </a:solidFill>
                <a:latin typeface="Times New Roman"/>
              </a:defRPr>
            </a:pPr>
            <a:r>
              <a:rPr sz="2800" dirty="0"/>
              <a:t>Project Highlights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3A5C56-1838-9A8A-FA98-27F15646ACE3}"/>
              </a:ext>
            </a:extLst>
          </p:cNvPr>
          <p:cNvSpPr txBox="1"/>
          <p:nvPr/>
        </p:nvSpPr>
        <p:spPr>
          <a:xfrm>
            <a:off x="1181371" y="1196752"/>
            <a:ext cx="61989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400" b="1" u="sng" dirty="0">
                <a:solidFill>
                  <a:srgbClr val="C00000"/>
                </a:solidFill>
              </a:rPr>
              <a:t>Technical Advantages &amp; Architectural Strengths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A08B8F-939C-9A6B-AC01-06F60F02C08E}"/>
              </a:ext>
            </a:extLst>
          </p:cNvPr>
          <p:cNvSpPr txBox="1"/>
          <p:nvPr/>
        </p:nvSpPr>
        <p:spPr>
          <a:xfrm>
            <a:off x="502920" y="2204864"/>
            <a:ext cx="795751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100% Dependency-Free Build:</a:t>
            </a:r>
            <a:r>
              <a:rPr lang="en-IN" sz="2000" dirty="0"/>
              <a:t> Native HTML5, CSS3, and modern ES6+ JS. No external libraries (No React, jQuery, Tailwind, or Chart.js).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Mathematically Sound Statistical Engine:</a:t>
            </a:r>
            <a:r>
              <a:rPr lang="en-IN" sz="2000" dirty="0"/>
              <a:t> Category-level standard deviation Z-score formulas with zero-variance safeguards.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Real-Time Dynamic DOM Rendering:</a:t>
            </a:r>
            <a:r>
              <a:rPr lang="en-IN" sz="2000" dirty="0"/>
              <a:t> Dynamic updates for metric cards, tables, and progress indicators execute instantaneously without full reloads.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Privacy-First Offline Execution:</a:t>
            </a:r>
            <a:r>
              <a:rPr lang="en-IN" sz="2000" dirty="0"/>
              <a:t> Financial records remain entirely local inside browser </a:t>
            </a:r>
            <a:r>
              <a:rPr lang="en-IN" sz="2000" dirty="0" err="1"/>
              <a:t>localStorage</a:t>
            </a:r>
            <a:r>
              <a:rPr lang="en-IN" sz="2000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Embedded Viva Demo Dataset:</a:t>
            </a:r>
            <a:r>
              <a:rPr lang="en-IN" sz="2000" dirty="0"/>
              <a:t> Integrated demo loader populates realistic test data instantly for demonstration purposes.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</p:txBody>
      </p:sp>
    </p:spTree>
  </p:cSld>
  <p:clrMapOvr>
    <a:masterClrMapping/>
  </p:clrMapOvr>
  <p:transition advTm="4000"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53949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500" b="1">
                <a:solidFill>
                  <a:srgbClr val="1F467D"/>
                </a:solidFill>
                <a:latin typeface="Times New Roman"/>
              </a:defRPr>
            </a:pPr>
            <a:r>
              <a:rPr sz="2800" dirty="0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2736"/>
            <a:ext cx="7223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900" b="1">
                <a:solidFill>
                  <a:srgbClr val="C00000"/>
                </a:solidFill>
                <a:latin typeface="Times New Roman"/>
              </a:defRPr>
            </a:pPr>
            <a:r>
              <a:rPr lang="en-IN" sz="2400" b="1" u="sng" dirty="0">
                <a:solidFill>
                  <a:srgbClr val="C00000"/>
                </a:solidFill>
                <a:latin typeface="Times New Roman"/>
              </a:rPr>
              <a:t>Current Client Boundaries vs. Future Roadmap</a:t>
            </a:r>
            <a:endParaRPr sz="2400" u="sng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F48988-7B3F-3768-9320-82DC9C3F623F}"/>
              </a:ext>
            </a:extLst>
          </p:cNvPr>
          <p:cNvSpPr txBox="1"/>
          <p:nvPr/>
        </p:nvSpPr>
        <p:spPr>
          <a:xfrm>
            <a:off x="251520" y="1628800"/>
            <a:ext cx="8568953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Current Implementation Boundaries:</a:t>
            </a:r>
            <a:endParaRPr lang="en-IN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/>
              <a:t>Browser-Tied Storage: Clearing browser cache wipes local un-exported records.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/>
              <a:t>Local Authentication: Operational prototype without server-side encryption tokens.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/>
              <a:t>Sample Size Reliance: Z-score requires baseline transaction history per category for statistical accuracy.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Future Roadmap:</a:t>
            </a:r>
            <a:endParaRPr lang="en-IN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/>
              <a:t>Backend API &amp; Database: Node.js / Express REST backend connected to MongoDB / PostgreSQL.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/>
              <a:t>Server Security: </a:t>
            </a:r>
            <a:r>
              <a:rPr lang="en-IN" sz="2000" dirty="0" err="1"/>
              <a:t>bcrypt</a:t>
            </a:r>
            <a:r>
              <a:rPr lang="en-IN" sz="2000" dirty="0"/>
              <a:t> password hashing and JWT token authentication.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/>
              <a:t>Advanced ML Engine: Machine learning integration (Isolation Forest / Time-Series) for seasonal predict.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/>
              <a:t>Automated Bank Feeds: Plaid / Open Banking API integration for automatic transaction fetching.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</p:txBody>
      </p:sp>
    </p:spTree>
  </p:cSld>
  <p:clrMapOvr>
    <a:masterClrMapping/>
  </p:clrMapOvr>
  <p:transition advTm="4000"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536" y="280557"/>
            <a:ext cx="53949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500" b="1">
                <a:solidFill>
                  <a:srgbClr val="1F467D"/>
                </a:solidFill>
                <a:latin typeface="Times New Roman"/>
              </a:defRPr>
            </a:pPr>
            <a:r>
              <a:rPr sz="2800" dirty="0"/>
              <a:t>References/Links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63000" y="1143000"/>
            <a:ext cx="501325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900" b="1">
                <a:solidFill>
                  <a:srgbClr val="C00000"/>
                </a:solidFill>
                <a:latin typeface="Times New Roman"/>
              </a:defRPr>
            </a:pPr>
            <a:r>
              <a:rPr lang="en-IN" sz="2400" b="1" dirty="0">
                <a:solidFill>
                  <a:srgbClr val="C00000"/>
                </a:solidFill>
                <a:latin typeface="Times New Roman"/>
              </a:rPr>
              <a:t>Project Links &amp; Documentation Sources</a:t>
            </a:r>
            <a:endParaRPr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51E9D4-3713-5107-21B3-2CA345E5C9A1}"/>
              </a:ext>
            </a:extLst>
          </p:cNvPr>
          <p:cNvSpPr txBox="1"/>
          <p:nvPr/>
        </p:nvSpPr>
        <p:spPr>
          <a:xfrm>
            <a:off x="395536" y="2215892"/>
            <a:ext cx="8208912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Live Web Application Demo:</a:t>
            </a:r>
            <a:r>
              <a:rPr lang="en-IN" sz="2000" dirty="0"/>
              <a:t> </a:t>
            </a:r>
            <a:r>
              <a:rPr lang="en-IN" sz="2000" dirty="0">
                <a:hlinkClick r:id="rId2"/>
              </a:rPr>
              <a:t>expense-guard-recurring-expense-</a:t>
            </a:r>
            <a:r>
              <a:rPr lang="en-IN" sz="2000" dirty="0" err="1">
                <a:hlinkClick r:id="rId2"/>
              </a:rPr>
              <a:t>ano.vercel.app</a:t>
            </a: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GitHub Repository:</a:t>
            </a:r>
            <a:r>
              <a:rPr lang="en-IN" sz="2000" dirty="0"/>
              <a:t> </a:t>
            </a:r>
            <a:r>
              <a:rPr lang="en-IN" sz="2000" dirty="0">
                <a:hlinkClick r:id="rId3"/>
              </a:rPr>
              <a:t>Bhavyakakkar24/</a:t>
            </a:r>
            <a:r>
              <a:rPr lang="en-IN" sz="2000" dirty="0" err="1">
                <a:hlinkClick r:id="rId3"/>
              </a:rPr>
              <a:t>ExpenseGuard</a:t>
            </a:r>
            <a:r>
              <a:rPr lang="en-IN" sz="2000" dirty="0">
                <a:hlinkClick r:id="rId3"/>
              </a:rPr>
              <a:t>-recurring-expense-anomaly-detector</a:t>
            </a:r>
            <a:endParaRPr lang="en-IN" sz="2000" dirty="0"/>
          </a:p>
          <a:p>
            <a:pPr lvl="0"/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Technical Documentation References:</a:t>
            </a:r>
            <a:endParaRPr lang="en-IN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/>
              <a:t>MDN Web Docs: </a:t>
            </a:r>
            <a:r>
              <a:rPr lang="en-IN" sz="2000" i="1" dirty="0"/>
              <a:t>JavaScript Array Methods (map, filter, reduce, sort)</a:t>
            </a:r>
            <a:endParaRPr lang="en-IN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/>
              <a:t>MDN Web Docs: </a:t>
            </a:r>
            <a:r>
              <a:rPr lang="en-IN" sz="2000" i="1" dirty="0"/>
              <a:t>Web Storage API (</a:t>
            </a:r>
            <a:r>
              <a:rPr lang="en-IN" sz="2000" i="1" dirty="0" err="1"/>
              <a:t>Window.localStorage</a:t>
            </a:r>
            <a:r>
              <a:rPr lang="en-IN" sz="2000" i="1" dirty="0"/>
              <a:t>, </a:t>
            </a:r>
            <a:r>
              <a:rPr lang="en-IN" sz="2000" i="1" dirty="0" err="1"/>
              <a:t>Window.sessionStorage</a:t>
            </a:r>
            <a:r>
              <a:rPr lang="en-IN" sz="2000" i="1" dirty="0"/>
              <a:t>)</a:t>
            </a:r>
            <a:endParaRPr lang="en-IN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/>
              <a:t>NIST/SEMATECH e-Handbook of Statistical Methods: </a:t>
            </a:r>
            <a:r>
              <a:rPr lang="en-IN" sz="2000" i="1" dirty="0"/>
              <a:t>Z-Score &amp; Outlier Detection Formulas</a:t>
            </a: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</p:txBody>
      </p:sp>
    </p:spTree>
  </p:cSld>
  <p:clrMapOvr>
    <a:masterClrMapping/>
  </p:clrMapOvr>
  <p:transition advTm="4000">
    <p:cut/>
  </p:transition>
</p:sld>
</file>

<file path=ppt/theme/theme1.xml><?xml version="1.0" encoding="utf-8"?>
<a:theme xmlns:a="http://schemas.openxmlformats.org/drawingml/2006/main" name="Bubble Sor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1674</Words>
  <Application>Microsoft Office PowerPoint</Application>
  <PresentationFormat>On-screen Show (4:3)</PresentationFormat>
  <Paragraphs>147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Bubble Sort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Cricket</dc:title>
  <dc:creator>abc</dc:creator>
  <cp:lastModifiedBy>Muskan Kapahi</cp:lastModifiedBy>
  <cp:revision>47</cp:revision>
  <dcterms:created xsi:type="dcterms:W3CDTF">2022-12-12T14:14:00Z</dcterms:created>
  <dcterms:modified xsi:type="dcterms:W3CDTF">2026-08-25T13:35:49Z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67092EABEC9D4C73A8883492A5DF4F0F_13</vt:lpwstr>
  </property>
  <property fmtid="{D5CDD505-2E9C-101B-9397-08002B2CF9AE}" pid="3" name="KSOProductBuildVer">
    <vt:lpwstr>1033-12.2.0.18607</vt:lpwstr>
  </property>
</Properties>
</file>